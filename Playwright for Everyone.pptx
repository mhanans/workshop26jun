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2377440"/>
            <a:ext cx="6400800" cy="64008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377440" y="3931920"/>
            <a:ext cx="4937760" cy="493776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1155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60">
                <a:solidFill>
                  <a:srgbClr val="14B8A6"/>
                </a:solidFill>
                <a:latin typeface="Segoe UI"/>
              </a:rPr>
              <a:t>QA AUTOMATION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Segoe UI Semibold"/>
              </a:rPr>
              <a:t>Playwright for Everyone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BD5E1"/>
                </a:solidFill>
                <a:latin typeface="Segoe UI"/>
              </a:rPr>
              <a:t>A practical introduction to browser test automation — and why every AI-generated test still needs a human reviewer.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605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30">
                <a:solidFill>
                  <a:srgbClr val="E2E8F0"/>
                </a:solidFill>
                <a:latin typeface="Segoe UI"/>
              </a:rPr>
              <a:t>Playwright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4160520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2" y="4160520"/>
            <a:ext cx="19019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30">
                <a:solidFill>
                  <a:srgbClr val="E2E8F0"/>
                </a:solidFill>
                <a:latin typeface="Segoe UI"/>
              </a:rPr>
              <a:t>Python test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9936" y="4160520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59936" y="4160520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30">
                <a:solidFill>
                  <a:srgbClr val="E2E8F0"/>
                </a:solidFill>
                <a:latin typeface="Segoe UI"/>
              </a:rPr>
              <a:t>For .NET &amp; Next.js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94576" y="4160520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94576" y="4160520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 spc="30">
                <a:solidFill>
                  <a:srgbClr val="E2E8F0"/>
                </a:solidFill>
                <a:latin typeface="Segoe UI"/>
              </a:rPr>
              <a:t>No prior Python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3975" y="647395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80">
                <a:solidFill>
                  <a:srgbClr val="64748B"/>
                </a:solidFill>
                <a:latin typeface="Segoe UI"/>
              </a:rPr>
              <a:t>FOR QA · DEVELOPERS · BUSINESS ANALYSTS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Where Playwright Fits in Your QA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You already test today. This adds a new layer — it does not replace what you do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02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2659303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2476423" cy="4114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 spc="6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95728"/>
            <a:ext cx="2293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Manual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07792"/>
            <a:ext cx="229354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Exploratory and regression testing by hand. Thorough, but slow before every release — and click-through scripts don't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1737360"/>
            <a:ext cx="2659303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436543" y="1828800"/>
            <a:ext cx="2476423" cy="4114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527983" y="201168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7983" y="201168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 spc="6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395728"/>
            <a:ext cx="2293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2907792"/>
            <a:ext cx="229354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Unit tests with xUnit. Fast and fully isolated, but they never touch the real browser or the real UI.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1737360"/>
            <a:ext cx="2659303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78727" y="1828800"/>
            <a:ext cx="2476423" cy="4114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70167" y="201168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0167" y="201168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 spc="6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395728"/>
            <a:ext cx="2293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Business Analysts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907792"/>
            <a:ext cx="229354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UFT or manual scenario walkthroughs. Great for business flows, but license-locked and brittle to UI change.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9471" y="1737360"/>
            <a:ext cx="2659303" cy="3063240"/>
          </a:xfrm>
          <a:prstGeom prst="roundRect">
            <a:avLst>
              <a:gd name="adj" fmla="val 4500"/>
            </a:avLst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20911" y="1828800"/>
            <a:ext cx="2476423" cy="411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12351" y="2011680"/>
            <a:ext cx="894283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2351" y="2011680"/>
            <a:ext cx="894283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 spc="60">
                <a:solidFill>
                  <a:srgbClr val="FFFFFF"/>
                </a:solidFill>
                <a:latin typeface="Segoe UI"/>
              </a:rPr>
              <a:t>NEW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351" y="2395728"/>
            <a:ext cx="2293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Playwright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51" y="2907792"/>
            <a:ext cx="229354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End-to-end automation that drives the real UI like a user would. AI can draft the first version — you verify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074920"/>
            <a:ext cx="11185855" cy="8686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" y="5405225"/>
            <a:ext cx="10710367" cy="2080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F766E"/>
                </a:solidFill>
                <a:latin typeface="Segoe UI"/>
              </a:rPr>
              <a:t>◆  WHY THIS MATTERS  </a:t>
            </a:r>
            <a:r>
              <a:rPr lang="en-US" sz="1200" b="0" i="0" dirty="0">
                <a:solidFill>
                  <a:srgbClr val="0F766E"/>
                </a:solidFill>
                <a:latin typeface="Segoe UI"/>
              </a:rPr>
              <a:t>AI is faster at create, if human can produce 10 bugs in 1 hour, AI can produce 100 bugs in 1 hour</a:t>
            </a:r>
            <a:endParaRPr sz="1200" b="0" i="0" dirty="0">
              <a:solidFill>
                <a:srgbClr val="0F766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1 OF 7 · KICK-OFF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Why Playwright,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The case for end-to-end browser automation — and the trade-off you accept the moment AI writes the first draft.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470355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47035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MANUAL QA PAIN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7867" y="4160520"/>
            <a:ext cx="3068726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7867" y="4160520"/>
            <a:ext cx="306872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SELENIUM VS CYPRESS VS PLAYWRIGHT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1185" y="4160520"/>
            <a:ext cx="1133856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1185" y="4160520"/>
            <a:ext cx="1133856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WHY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9633" y="4160520"/>
            <a:ext cx="138623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9633" y="4160520"/>
            <a:ext cx="138623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THE CORE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1 ·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Why Move Beyond Manual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Three forces pushing every QA team toward automation.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1 · WHY 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04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57621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5720" cy="283463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Manual QA Is Slow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295144"/>
            <a:ext cx="3082442" cy="2276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Manual regression takes days before every release. Humans miss edge cases, and click-through scripts rot the moment the UI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1737360"/>
            <a:ext cx="357621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99178" y="1828800"/>
            <a:ext cx="45720" cy="283463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18634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258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Releases Keep Getting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8634" y="2295144"/>
            <a:ext cx="3082442" cy="2276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Modern .NET APIs and Next.js front-ends ship multiple times a week. You can't gate every deploy on a full manual pass.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2556" y="1737360"/>
            <a:ext cx="357621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03996" y="1828800"/>
            <a:ext cx="45720" cy="283463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23452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23452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4076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E2E Automation Has Its Own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3452" y="2295144"/>
            <a:ext cx="3082442" cy="2276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End-to-end tests are powerful but can be flaky, slow to write, and expensive to maintain if built carelessly.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47488"/>
            <a:ext cx="11185855" cy="8686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5047488"/>
            <a:ext cx="10710367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Segoe UI"/>
              </a:rPr>
              <a:t>◆  INSIGHT  </a:t>
            </a:r>
            <a:r>
              <a:rPr sz="1200" b="0" i="0">
                <a:solidFill>
                  <a:srgbClr val="B45309"/>
                </a:solidFill>
                <a:latin typeface="Segoe UI"/>
              </a:rPr>
              <a:t>Manual testing doesn't disappear — it shifts. Repetitive regression goes to automation; humans focus on exploration and judgment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1 ·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 Semibold"/>
              </a:rPr>
              <a:t>How Playwright Compares to What You Already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The same five tools your team touches today — lined up side by 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1 · WHY 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05 /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58668"/>
              </p:ext>
            </p:extLst>
          </p:nvPr>
        </p:nvGraphicFramePr>
        <p:xfrm>
          <a:off x="502920" y="1737360"/>
          <a:ext cx="11187680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4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Segoe UI"/>
                        </a:rPr>
                        <a:t>Selenium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Segoe UI"/>
                        </a:rPr>
                        <a:t>Stagehand</a:t>
                      </a:r>
                      <a:endParaRPr sz="103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Segoe UI"/>
                        </a:rPr>
                        <a:t>UFT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Segoe UI"/>
                        </a:rPr>
                        <a:t>xUnit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Segoe UI"/>
                        </a:rPr>
                        <a:t>Playwright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Tests the real UI?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No — logic only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0F766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Speed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Slow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Slow</a:t>
                      </a:r>
                      <a:endParaRPr sz="960" b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Slow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Very fast (no UI)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0F766E"/>
                          </a:solidFill>
                          <a:latin typeface="Segoe UI"/>
                        </a:rPr>
                        <a:t>Fast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Auto-waiting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Manual sync points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Not applicable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0F766E"/>
                          </a:solidFill>
                          <a:latin typeface="Segoe UI"/>
                        </a:rPr>
                        <a:t>Built-in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Cross-browser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  <a:endParaRPr sz="960" b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IE/Chrome plugin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Not applicable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0F766E"/>
                          </a:solidFill>
                          <a:latin typeface="Segoe UI"/>
                        </a:rPr>
                        <a:t>All major engines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Language / script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Many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Natural Language</a:t>
                      </a:r>
                      <a:endParaRPr sz="960" b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VBScript only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C# only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0F766E"/>
                          </a:solidFill>
                          <a:latin typeface="Segoe UI"/>
                        </a:rPr>
                        <a:t>C#, Python, JS/TS, Java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Licensing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Free, OSS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Free, </a:t>
                      </a:r>
                      <a:r>
                        <a:rPr lang="en-US"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but need to pay AI</a:t>
                      </a:r>
                      <a:endParaRPr sz="960" b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Paid license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Free, OSS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0F766E"/>
                          </a:solidFill>
                          <a:latin typeface="Segoe UI"/>
                        </a:rPr>
                        <a:t>Free, OSS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Debug replay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60" b="0" dirty="0">
                          <a:solidFill>
                            <a:srgbClr val="334155"/>
                          </a:solidFill>
                          <a:latin typeface="Segoe UI"/>
                        </a:rPr>
                        <a:t>Full AI Debug</a:t>
                      </a:r>
                      <a:endParaRPr sz="960" b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Results viewer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IDE breakpoints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 dirty="0">
                          <a:solidFill>
                            <a:srgbClr val="0F766E"/>
                          </a:solidFill>
                          <a:latin typeface="Segoe UI"/>
                        </a:rPr>
                        <a:t>Full trace replay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458968"/>
            <a:ext cx="11185855" cy="73152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5458968"/>
            <a:ext cx="1071036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Segoe UI"/>
              </a:rPr>
              <a:t>◆  WHY IT MATTERS  </a:t>
            </a:r>
            <a:r>
              <a:rPr sz="1150" b="0" i="0">
                <a:solidFill>
                  <a:srgbClr val="0F766E"/>
                </a:solidFill>
                <a:latin typeface="Segoe UI"/>
              </a:rPr>
              <a:t>UFT and xUnit aren't really competing with Playwright — they sit at different layers (manual-to-automation, and unit logic). Playwright is what drives the browser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1 ·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Why the Test Code You'll See Is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Even though your stack is .NET and Next.js.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1 · WHY 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06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57621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5720" cy="283463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AI Speaks Python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295144"/>
            <a:ext cx="3082442" cy="2276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Most AI coding assistants and AI test-generation tools produce Playwright code in Python first. C# output is far less common in the wild.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1737360"/>
            <a:ext cx="357621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99178" y="1828800"/>
            <a:ext cx="45720" cy="283463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18634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258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Reading Beats Writing,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8634" y="2295144"/>
            <a:ext cx="3082442" cy="2276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Your job isn't to become a Python developer. It's to read Python well enough to judge whether AI-generated code is actually correct.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2556" y="1737360"/>
            <a:ext cx="357621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03996" y="1828800"/>
            <a:ext cx="45720" cy="283463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23452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23452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4076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The Syntax Gap Is Smaller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3452" y="2295144"/>
            <a:ext cx="3082442" cy="2276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Python's structure maps closely to C#: variables, functions, classes, even async/await. We cover the essentials in Module 3.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47488"/>
            <a:ext cx="11185855" cy="8686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5047488"/>
            <a:ext cx="10710367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4155"/>
                </a:solidFill>
                <a:latin typeface="Segoe UI"/>
              </a:rPr>
              <a:t>◆  SCOPE  </a:t>
            </a:r>
            <a:r>
              <a:rPr sz="1200" b="0" i="0">
                <a:solidFill>
                  <a:srgbClr val="475569"/>
                </a:solidFill>
                <a:latin typeface="Segoe UI"/>
              </a:rPr>
              <a:t>You will not write Python from scratch in this workshop. You'll read AI-generated Python, and decide if it's safe to merge.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F59E0B"/>
                </a:solidFill>
                <a:latin typeface="Segoe UI"/>
              </a:rPr>
              <a:t>MODULE 1 ·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172A"/>
                </a:solidFill>
                <a:latin typeface="Segoe UI Semibold"/>
              </a:rPr>
              <a:t>The Core Risk: AI Can Write Tests, But Can It Be Trusted?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This question is the spine of the entire workshop.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1 · WHY 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07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455767" cy="315468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920240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45309"/>
                </a:solidFill>
                <a:latin typeface="Segoe UI"/>
              </a:rPr>
              <a:t>AI (the Generator) — The Typist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395728"/>
            <a:ext cx="4998567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D97706"/>
                </a:solidFill>
                <a:latin typeface="Segoe UI"/>
              </a:rPr>
              <a:t>○  </a:t>
            </a:r>
            <a:r>
              <a:rPr sz="1250" b="0" i="0">
                <a:solidFill>
                  <a:srgbClr val="B45309"/>
                </a:solidFill>
                <a:latin typeface="Segoe UI"/>
              </a:rPr>
              <a:t>Generates a working script in seconds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D97706"/>
                </a:solidFill>
                <a:latin typeface="Segoe UI"/>
              </a:rPr>
              <a:t>○  </a:t>
            </a:r>
            <a:r>
              <a:rPr sz="1250" b="0" i="0">
                <a:solidFill>
                  <a:srgbClr val="B45309"/>
                </a:solidFill>
                <a:latin typeface="Segoe UI"/>
              </a:rPr>
              <a:t>Knows the Playwright API surface well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D97706"/>
                </a:solidFill>
                <a:latin typeface="Segoe UI"/>
              </a:rPr>
              <a:t>○  </a:t>
            </a:r>
            <a:r>
              <a:rPr sz="1250" b="0" i="0">
                <a:solidFill>
                  <a:srgbClr val="B45309"/>
                </a:solidFill>
                <a:latin typeface="Segoe UI"/>
              </a:rPr>
              <a:t>Has no idea if a locator is fragile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D97706"/>
                </a:solidFill>
                <a:latin typeface="Segoe UI"/>
              </a:rPr>
              <a:t>○  </a:t>
            </a:r>
            <a:r>
              <a:rPr sz="1250" b="0" i="0">
                <a:solidFill>
                  <a:srgbClr val="B45309"/>
                </a:solidFill>
                <a:latin typeface="Segoe UI"/>
              </a:rPr>
              <a:t>Cannot judge if your Next.js DOM will change tomorrow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737360"/>
            <a:ext cx="5455767" cy="315468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0751" y="1920240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766E"/>
                </a:solidFill>
                <a:latin typeface="Segoe UI"/>
              </a:rPr>
              <a:t>You — The 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2395728"/>
            <a:ext cx="4998567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0F766E"/>
                </a:solidFill>
                <a:latin typeface="Segoe UI"/>
              </a:rPr>
              <a:t>Read the generated code before trusting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0F766E"/>
                </a:solidFill>
                <a:latin typeface="Segoe UI"/>
              </a:rPr>
              <a:t>Know which locators survive a UI refactor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0F766E"/>
                </a:solidFill>
                <a:latin typeface="Segoe UI"/>
              </a:rPr>
              <a:t>Replace blind waits with real assertions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1" i="0">
                <a:solidFill>
                  <a:srgbClr val="0D9488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0F766E"/>
                </a:solidFill>
                <a:latin typeface="Segoe UI"/>
              </a:rPr>
              <a:t>Decide what ships and what gets rewritten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66360"/>
            <a:ext cx="11185855" cy="7772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5326423"/>
            <a:ext cx="10710367" cy="4571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>
                <a:solidFill>
                  <a:srgbClr val="14B8A6"/>
                </a:solidFill>
                <a:latin typeface="Segoe UI"/>
              </a:rPr>
              <a:t>◆  WORKSHOP GOAL  </a:t>
            </a:r>
            <a:r>
              <a:rPr sz="1250" b="0" i="0" dirty="0">
                <a:solidFill>
                  <a:srgbClr val="E2E8F0"/>
                </a:solidFill>
                <a:latin typeface="Segoe UI"/>
              </a:rPr>
              <a:t>By the end of this workshop, you can look at any AI-generated Playwright test and say, with confidence: “this is fine to </a:t>
            </a:r>
            <a:r>
              <a:rPr lang="en-US" sz="1250" b="0" i="0" dirty="0">
                <a:solidFill>
                  <a:srgbClr val="E2E8F0"/>
                </a:solidFill>
                <a:latin typeface="Segoe UI"/>
              </a:rPr>
              <a:t>execute</a:t>
            </a:r>
            <a:r>
              <a:rPr sz="1250" b="0" i="0" dirty="0">
                <a:solidFill>
                  <a:srgbClr val="E2E8F0"/>
                </a:solidFill>
                <a:latin typeface="Segoe UI"/>
              </a:rPr>
              <a:t>” or “this needs a</a:t>
            </a:r>
            <a:r>
              <a:rPr lang="en-US" sz="1250" b="0" i="0" dirty="0">
                <a:solidFill>
                  <a:srgbClr val="E2E8F0"/>
                </a:solidFill>
                <a:latin typeface="Segoe UI"/>
              </a:rPr>
              <a:t> manual</a:t>
            </a:r>
            <a:r>
              <a:rPr sz="1250" b="0" i="0" dirty="0">
                <a:solidFill>
                  <a:srgbClr val="E2E8F0"/>
                </a:solidFill>
                <a:latin typeface="Segoe UI"/>
              </a:rPr>
              <a:t> rewrite.”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1 ·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The No-Code Path: TestSprite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For QA, BAs, and anyone who'd rather upload docs than write Python.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1 · WHY 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08 / 30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73736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719072"/>
            <a:ext cx="5550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Describe your product first</a:t>
            </a:r>
            <a:r>
              <a:rPr sz="1060" b="0" i="0">
                <a:solidFill>
                  <a:srgbClr val="475569"/>
                </a:solidFill>
                <a:latin typeface="Segoe UI"/>
              </a:rPr>
              <a:t>  — Name the test, then upload a PRD or product description for context.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51460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496312"/>
            <a:ext cx="5550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Point it at your API or app</a:t>
            </a:r>
            <a:r>
              <a:rPr sz="1060" b="0" i="0">
                <a:solidFill>
                  <a:srgbClr val="475569"/>
                </a:solidFill>
                <a:latin typeface="Segoe UI"/>
              </a:rPr>
              <a:t>  — API URL + docs for backend, or a website URL + test login if it needs auth.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29184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2918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273552"/>
            <a:ext cx="5550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Add instructions, then parse</a:t>
            </a:r>
            <a:r>
              <a:rPr sz="1060" b="0" i="0">
                <a:solidFill>
                  <a:srgbClr val="475569"/>
                </a:solidFill>
                <a:latin typeface="Segoe UI"/>
              </a:rPr>
              <a:t>  — Note edge cases or required headers, then click "Parse with AI."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06908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050792"/>
            <a:ext cx="5550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Review, run, and read it</a:t>
            </a:r>
            <a:r>
              <a:rPr sz="1060" b="0" i="0">
                <a:solidFill>
                  <a:srgbClr val="475569"/>
                </a:solidFill>
                <a:latin typeface="Segoe UI"/>
              </a:rPr>
              <a:t>  — This is exactly where Module 5's checklist comes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59" y="1737360"/>
            <a:ext cx="4922215" cy="1490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7999" y="1828800"/>
            <a:ext cx="45720" cy="130759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77455" y="1892808"/>
            <a:ext cx="4428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✕ Minimal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5" y="2185416"/>
            <a:ext cx="4428439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Just a URL, nothing else — no docs, no login, no instructions. The AI can only guess at edge cases and auth.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59" y="3355848"/>
            <a:ext cx="4922215" cy="1490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7999" y="3447288"/>
            <a:ext cx="45720" cy="1307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77455" y="3511296"/>
            <a:ext cx="4428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✓ Rich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5" y="3803904"/>
            <a:ext cx="4428439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75569"/>
                </a:solidFill>
                <a:latin typeface="Segoe UI"/>
              </a:rPr>
              <a:t>API docs uploaded, a test account provided, and instructions like "all endpoints require a Bearer token." Real specifics to test against.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74920"/>
            <a:ext cx="11185855" cy="8686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" y="5074920"/>
            <a:ext cx="10710367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"/>
              </a:rPr>
              <a:t>◆  REMEMBER  </a:t>
            </a:r>
            <a:r>
              <a:rPr sz="1150" b="0" i="0">
                <a:solidFill>
                  <a:srgbClr val="B45309"/>
                </a:solidFill>
                <a:latin typeface="Segoe UI"/>
              </a:rPr>
              <a:t>TestSprite (or any similar AI tool) gets you a working draft in seconds — that's the “AI is the typist” part. Module 5 teaches you exactly how to check if that draft is correct.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2 OF 7 · ENVIRONMENT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Get Your Environment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Python, pip, and Playwright — installed and verified in under 20 minutes. No AI tool required for this 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302105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30210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PYTHON &amp; PIP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9617" y="4160520"/>
            <a:ext cx="1638604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9617" y="4160520"/>
            <a:ext cx="163860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INSTALL &amp;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2814" y="4160520"/>
            <a:ext cx="1806854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2814" y="4160520"/>
            <a:ext cx="180685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VS CODE EXTENSIONS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2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Python Tooling, Mapped to What You Already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Same concepts, different names — nothing here is genuinely new.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2 · ENVIRONMENT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10 / 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737360"/>
          <a:ext cx="11183112" cy="2926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.NET equivalent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Node equivalent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Runtime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dotnet / .NET SDK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node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Package manager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pip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NuGet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npm / yarn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Install a package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pip install x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dotnet add package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npm install x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Dependency list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requirements.txt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.csproj / packages.config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package.json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Project-local isolation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venv (.venv)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bin / obj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node_modules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Build / cache artifacts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__pycache__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bin/Debug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node_modules/.cache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892040"/>
            <a:ext cx="11185855" cy="77724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4892040"/>
            <a:ext cx="1071036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Segoe UI"/>
              </a:rPr>
              <a:t>◆  TAKEAWAY  </a:t>
            </a:r>
            <a:r>
              <a:rPr sz="1250" b="0" i="0">
                <a:solidFill>
                  <a:srgbClr val="0F766E"/>
                </a:solidFill>
                <a:latin typeface="Segoe UI"/>
              </a:rPr>
              <a:t>Python = runtime. pip = package manager. venv = your project's private node_modules. That's the entire mental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2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Setup Checklist — Do This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Six commands and three VS Code extensions. About 20 minutes, start to finish.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2 · ENVIRONMENT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11 / 30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1700784"/>
            <a:ext cx="517230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Install Python 3.12+ from python.org (check “Add to PATH” on Windows)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30428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042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267712"/>
            <a:ext cx="517230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Create a venv: python -m venv .venv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871216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712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2834640"/>
            <a:ext cx="517230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Activate it: .venv\Scripts\Activate.ps1 (Win) or source .venv/bin/activate (Mac/Linux)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438144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438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401568"/>
            <a:ext cx="517230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Install: pip install playwright pytest pytest-playwright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005072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05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3968496"/>
            <a:ext cx="517230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Download browser engines: playwright install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457200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5720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535424"/>
            <a:ext cx="517230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Verify: playwright --version and python -m pytest --version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84648"/>
            <a:ext cx="5592927" cy="566928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5184648"/>
            <a:ext cx="51174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 dirty="0">
                <a:solidFill>
                  <a:srgbClr val="DC2626"/>
                </a:solidFill>
                <a:latin typeface="Segoe UI"/>
              </a:rPr>
              <a:t>⚑  WARNING  </a:t>
            </a:r>
            <a:r>
              <a:rPr sz="1030" b="0" i="0" dirty="0">
                <a:solidFill>
                  <a:srgbClr val="B91C1C"/>
                </a:solidFill>
                <a:latin typeface="Segoe UI"/>
              </a:rPr>
              <a:t>Step 5 is the one people forget. Skip it and every test fails with “Executable doesn't exist.”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3 OF 7 · PYTHON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Just Enough Python to Read Any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You're not learning to build Python apps. You're learning to read a test fast enough to catch a mistake.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89097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8909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SYNTAX IN 5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8491" y="4160520"/>
            <a:ext cx="189097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8491" y="4160520"/>
            <a:ext cx="18909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LISTS, DICTS &amp; LINQ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3 · PYTHON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Python Syntax in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Three concepts cover nearly everything you'll see in a generated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3 · PYTHON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13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5720" cy="1207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74520"/>
            <a:ext cx="4160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Variables — No Declared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295144"/>
            <a:ext cx="4581144" cy="649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Segoe UI"/>
              </a:rPr>
              <a:t>name = "John" just works. Type hints like name: str are optional, IDE-only — the same idea as TypeScript, erased at runtime.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73552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3364992"/>
            <a:ext cx="45720" cy="1207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3816" y="342900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" y="3429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10712"/>
            <a:ext cx="4160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Functions &amp;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831335"/>
            <a:ext cx="4581144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Segoe UI"/>
              </a:rPr>
              <a:t>def fn(args): for functions. class Name: with __init__ as the constructor. self is Python's this — just always written explicitly.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09744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4901183"/>
            <a:ext cx="45720" cy="1207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3816" y="4965192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" y="49651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46904"/>
            <a:ext cx="4160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Async / Await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5367527"/>
            <a:ext cx="4581144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475569"/>
                </a:solidFill>
                <a:latin typeface="Segoe UI"/>
              </a:rPr>
              <a:t>async def declares a coroutine; await calls it. Same mental model as C#'s async Task / await.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59" y="1737360"/>
            <a:ext cx="5836615" cy="4370832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35040" y="1856232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76772" y="1856232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18503" y="1856232"/>
            <a:ext cx="77724" cy="777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47104" y="1810512"/>
            <a:ext cx="501365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14B8A6"/>
                </a:solidFill>
                <a:latin typeface="Segoe UI"/>
              </a:rPr>
              <a:t>python_basics.py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093976"/>
            <a:ext cx="5470855" cy="3922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C#:    string name = "John";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Python: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name = </a:t>
            </a:r>
            <a:r>
              <a:rPr sz="1200">
                <a:solidFill>
                  <a:srgbClr val="CE9178"/>
                </a:solidFill>
                <a:latin typeface="Consolas"/>
              </a:rPr>
              <a:t>"John"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age = </a:t>
            </a:r>
            <a:r>
              <a:rPr sz="1200">
                <a:solidFill>
                  <a:srgbClr val="B5CEA8"/>
                </a:solidFill>
                <a:latin typeface="Consolas"/>
              </a:rPr>
              <a:t>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Type hints = IDE help only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name: str = </a:t>
            </a:r>
            <a:r>
              <a:rPr sz="1200">
                <a:solidFill>
                  <a:srgbClr val="CE9178"/>
                </a:solidFill>
                <a:latin typeface="Consolas"/>
              </a:rPr>
              <a:t>"John"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class</a:t>
            </a:r>
            <a:r>
              <a:rPr sz="1200">
                <a:solidFill>
                  <a:srgbClr val="D4D4D4"/>
                </a:solidFill>
                <a:latin typeface="Consolas"/>
              </a:rPr>
              <a:t> LoginPage: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569CD6"/>
                </a:solidFill>
                <a:latin typeface="Consolas"/>
              </a:rPr>
              <a:t>def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__init__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569CD6"/>
                </a:solidFill>
                <a:latin typeface="Consolas"/>
              </a:rPr>
              <a:t>self</a:t>
            </a:r>
            <a:r>
              <a:rPr sz="1200">
                <a:solidFill>
                  <a:srgbClr val="D4D4D4"/>
                </a:solidFill>
                <a:latin typeface="Consolas"/>
              </a:rPr>
              <a:t>, page):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6A9955"/>
                </a:solidFill>
                <a:latin typeface="Consolas"/>
              </a:rPr>
              <a:t># 'self' == 'this' in C#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>
                <a:solidFill>
                  <a:srgbClr val="569CD6"/>
                </a:solidFill>
                <a:latin typeface="Consolas"/>
              </a:rPr>
              <a:t>self</a:t>
            </a:r>
            <a:r>
              <a:rPr sz="1200">
                <a:solidFill>
                  <a:srgbClr val="D4D4D4"/>
                </a:solidFill>
                <a:latin typeface="Consolas"/>
              </a:rPr>
              <a:t>.page = page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C#: await Task.Delay(1000);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69CD6"/>
                </a:solidFill>
                <a:latin typeface="Consolas"/>
              </a:rPr>
              <a:t>async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def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DCDCAA"/>
                </a:solidFill>
                <a:latin typeface="Consolas"/>
              </a:rPr>
              <a:t>run_test</a:t>
            </a:r>
            <a:r>
              <a:rPr sz="1200">
                <a:solidFill>
                  <a:srgbClr val="D4D4D4"/>
                </a:solidFill>
                <a:latin typeface="Consolas"/>
              </a:rPr>
              <a:t>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569CD6"/>
                </a:solidFill>
                <a:latin typeface="Consolas"/>
              </a:rPr>
              <a:t>await</a:t>
            </a:r>
            <a:r>
              <a:rPr sz="1200">
                <a:solidFill>
                  <a:srgbClr val="D4D4D4"/>
                </a:solidFill>
                <a:latin typeface="Consolas"/>
              </a:rPr>
              <a:t> asyncio.</a:t>
            </a:r>
            <a:r>
              <a:rPr sz="1200">
                <a:solidFill>
                  <a:srgbClr val="DCDCAA"/>
                </a:solidFill>
                <a:latin typeface="Consolas"/>
              </a:rPr>
              <a:t>sleep</a:t>
            </a:r>
            <a:r>
              <a:rPr sz="1200">
                <a:solidFill>
                  <a:srgbClr val="D4D4D4"/>
                </a:solidFill>
                <a:latin typeface="Consolas"/>
              </a:rPr>
              <a:t>(</a:t>
            </a:r>
            <a:r>
              <a:rPr sz="1200">
                <a:solidFill>
                  <a:srgbClr val="B5CEA8"/>
                </a:solidFill>
                <a:latin typeface="Consolas"/>
              </a:rPr>
              <a:t>1</a:t>
            </a:r>
            <a:r>
              <a:rPr sz="120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3 · PYTHON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Collections: Lists, Dicts &amp; the LINQ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Lists replace List&lt;T&gt;. Dicts replace Dictionary&lt;K,V&gt; and JSON objects.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3 · PYTHON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14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5720" cy="1207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1892808"/>
            <a:ext cx="4581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Lists ~ List&lt;T&gt;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185416"/>
            <a:ext cx="4581144" cy="758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Segoe UI"/>
              </a:rPr>
              <a:t>A Python list is a dynamic array, like List&lt;T&gt; or a JS array. Mixed types are allowed but discouraged.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73552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3364992"/>
            <a:ext cx="45720" cy="1207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3429000"/>
            <a:ext cx="4581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Dicts ~ JSON objects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721608"/>
            <a:ext cx="4581144" cy="758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Segoe UI"/>
              </a:rPr>
              <a:t>A Python dict is a key-value map — the same mental shape as a JS object or a JSON payload.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9744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60" y="4901183"/>
            <a:ext cx="45720" cy="12070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" y="4965192"/>
            <a:ext cx="4581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List comprehension ~ LINQ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5257800"/>
            <a:ext cx="4581144" cy="758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75569"/>
                </a:solidFill>
                <a:latin typeface="Segoe UI"/>
              </a:rPr>
              <a:t>[x for x in items if cond] is Python's answer to .Where()/.Select() chains. Same intent, different punctuation.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59" y="1737360"/>
            <a:ext cx="5836615" cy="4370832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035040" y="1856232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76772" y="1856232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18503" y="1856232"/>
            <a:ext cx="77724" cy="777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47104" y="1810512"/>
            <a:ext cx="501365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14B8A6"/>
                </a:solidFill>
                <a:latin typeface="Segoe UI"/>
              </a:rPr>
              <a:t>collections.py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093976"/>
            <a:ext cx="5470855" cy="3922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C#: users.Where(u =&gt; u != "C").ToList()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active = [u </a:t>
            </a:r>
            <a:r>
              <a:rPr sz="1200">
                <a:solidFill>
                  <a:srgbClr val="569CD6"/>
                </a:solidFill>
                <a:latin typeface="Consolas"/>
              </a:rPr>
              <a:t>for</a:t>
            </a:r>
            <a:r>
              <a:rPr sz="1200">
                <a:solidFill>
                  <a:srgbClr val="D4D4D4"/>
                </a:solidFill>
                <a:latin typeface="Consolas"/>
              </a:rPr>
              <a:t> u </a:t>
            </a:r>
            <a:r>
              <a:rPr sz="1200">
                <a:solidFill>
                  <a:srgbClr val="569CD6"/>
                </a:solidFill>
                <a:latin typeface="Consolas"/>
              </a:rPr>
              <a:t>in</a:t>
            </a:r>
            <a:r>
              <a:rPr sz="1200">
                <a:solidFill>
                  <a:srgbClr val="D4D4D4"/>
                </a:solidFill>
                <a:latin typeface="Consolas"/>
              </a:rPr>
              <a:t> users </a:t>
            </a:r>
            <a:r>
              <a:rPr sz="1200">
                <a:solidFill>
                  <a:srgbClr val="569CD6"/>
                </a:solidFill>
                <a:latin typeface="Consolas"/>
              </a:rPr>
              <a:t>if</a:t>
            </a:r>
            <a:r>
              <a:rPr sz="1200">
                <a:solidFill>
                  <a:srgbClr val="D4D4D4"/>
                </a:solidFill>
                <a:latin typeface="Consolas"/>
              </a:rPr>
              <a:t> u != </a:t>
            </a:r>
            <a:r>
              <a:rPr sz="1200">
                <a:solidFill>
                  <a:srgbClr val="CE9178"/>
                </a:solidFill>
                <a:latin typeface="Consolas"/>
              </a:rPr>
              <a:t>"C"</a:t>
            </a:r>
            <a:r>
              <a:rPr sz="12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C#: users.Select(u =&gt; u.ToUpper())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upper = [u.</a:t>
            </a:r>
            <a:r>
              <a:rPr sz="1200">
                <a:solidFill>
                  <a:srgbClr val="DCDCAA"/>
                </a:solidFill>
                <a:latin typeface="Consolas"/>
              </a:rPr>
              <a:t>upper</a:t>
            </a:r>
            <a:r>
              <a:rPr sz="1200">
                <a:solidFill>
                  <a:srgbClr val="D4D4D4"/>
                </a:solidFill>
                <a:latin typeface="Consolas"/>
              </a:rPr>
              <a:t>() </a:t>
            </a:r>
            <a:r>
              <a:rPr sz="1200">
                <a:solidFill>
                  <a:srgbClr val="569CD6"/>
                </a:solidFill>
                <a:latin typeface="Consolas"/>
              </a:rPr>
              <a:t>for</a:t>
            </a:r>
            <a:r>
              <a:rPr sz="1200">
                <a:solidFill>
                  <a:srgbClr val="D4D4D4"/>
                </a:solidFill>
                <a:latin typeface="Consolas"/>
              </a:rPr>
              <a:t> u </a:t>
            </a:r>
            <a:r>
              <a:rPr sz="1200">
                <a:solidFill>
                  <a:srgbClr val="569CD6"/>
                </a:solidFill>
                <a:latin typeface="Consolas"/>
              </a:rPr>
              <a:t>in</a:t>
            </a:r>
            <a:r>
              <a:rPr sz="1200">
                <a:solidFill>
                  <a:srgbClr val="D4D4D4"/>
                </a:solidFill>
                <a:latin typeface="Consolas"/>
              </a:rPr>
              <a:t> users]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C#: Dictionary&lt;string, object&gt; payload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6A9955"/>
                </a:solidFill>
                <a:latin typeface="Consolas"/>
              </a:rPr>
              <a:t>#     = new();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payload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"name"</a:t>
            </a:r>
            <a:r>
              <a:rPr sz="1200">
                <a:solidFill>
                  <a:srgbClr val="D4D4D4"/>
                </a:solidFill>
                <a:latin typeface="Consolas"/>
              </a:rPr>
              <a:t>: </a:t>
            </a:r>
            <a:r>
              <a:rPr sz="1200">
                <a:solidFill>
                  <a:srgbClr val="CE9178"/>
                </a:solidFill>
                <a:latin typeface="Consolas"/>
              </a:rPr>
              <a:t>"test-role"</a:t>
            </a:r>
            <a:r>
              <a:rPr sz="12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    </a:t>
            </a:r>
            <a:r>
              <a:rPr sz="1200">
                <a:solidFill>
                  <a:srgbClr val="CE9178"/>
                </a:solidFill>
                <a:latin typeface="Consolas"/>
              </a:rPr>
              <a:t>"allowed_actions"</a:t>
            </a:r>
            <a:r>
              <a:rPr sz="1200">
                <a:solidFill>
                  <a:srgbClr val="D4D4D4"/>
                </a:solidFill>
                <a:latin typeface="Consolas"/>
              </a:rPr>
              <a:t>: [</a:t>
            </a:r>
            <a:r>
              <a:rPr sz="1200">
                <a:solidFill>
                  <a:srgbClr val="CE9178"/>
                </a:solidFill>
                <a:latin typeface="Consolas"/>
              </a:rPr>
              <a:t>"read"</a:t>
            </a:r>
            <a:r>
              <a:rPr sz="12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4D4D4"/>
                </a:solidFill>
                <a:latin typeface="Consolas"/>
              </a:rPr>
              <a:t>payload[</a:t>
            </a:r>
            <a:r>
              <a:rPr sz="1200">
                <a:solidFill>
                  <a:srgbClr val="CE9178"/>
                </a:solidFill>
                <a:latin typeface="Consolas"/>
              </a:rPr>
              <a:t>"name"</a:t>
            </a:r>
            <a:r>
              <a:rPr sz="1200">
                <a:solidFill>
                  <a:srgbClr val="D4D4D4"/>
                </a:solidFill>
                <a:latin typeface="Consolas"/>
              </a:rPr>
              <a:t>]   </a:t>
            </a:r>
            <a:r>
              <a:rPr sz="1200">
                <a:solidFill>
                  <a:srgbClr val="6A9955"/>
                </a:solidFill>
                <a:latin typeface="Consolas"/>
              </a:rPr>
              <a:t># "test-role"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DCDCAA"/>
                </a:solidFill>
                <a:latin typeface="Consolas"/>
              </a:rPr>
              <a:t>len</a:t>
            </a:r>
            <a:r>
              <a:rPr sz="1200">
                <a:solidFill>
                  <a:srgbClr val="D4D4D4"/>
                </a:solidFill>
                <a:latin typeface="Consolas"/>
              </a:rPr>
              <a:t>(users)          </a:t>
            </a:r>
            <a:r>
              <a:rPr sz="1200">
                <a:solidFill>
                  <a:srgbClr val="6A9955"/>
                </a:solidFill>
                <a:latin typeface="Consolas"/>
              </a:rPr>
              <a:t># C#: users.Count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E9178"/>
                </a:solidFill>
                <a:latin typeface="Consolas"/>
              </a:rPr>
              <a:t>"A"</a:t>
            </a:r>
            <a:r>
              <a:rPr sz="1200">
                <a:solidFill>
                  <a:srgbClr val="D4D4D4"/>
                </a:solidFill>
                <a:latin typeface="Consolas"/>
              </a:rPr>
              <a:t> </a:t>
            </a:r>
            <a:r>
              <a:rPr sz="1200">
                <a:solidFill>
                  <a:srgbClr val="569CD6"/>
                </a:solidFill>
                <a:latin typeface="Consolas"/>
              </a:rPr>
              <a:t>in</a:t>
            </a:r>
            <a:r>
              <a:rPr sz="1200">
                <a:solidFill>
                  <a:srgbClr val="D4D4D4"/>
                </a:solidFill>
                <a:latin typeface="Consolas"/>
              </a:rPr>
              <a:t> users       </a:t>
            </a:r>
            <a:r>
              <a:rPr sz="1200">
                <a:solidFill>
                  <a:srgbClr val="6A9955"/>
                </a:solidFill>
                <a:latin typeface="Consolas"/>
              </a:rPr>
              <a:t># C#: users.Contains("A")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4 OF 7 · CORE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Playwright Core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Three building blocks explain almost everything about how Playwright runs your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2311603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231160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BROWSER → CONTEXT →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9115" y="41605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9115" y="41605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YOUR FIRST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4 ·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Browser → Context →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The three-tier model that makes Playwright dramatically faster than Selenium.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4 · CORE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16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6949440" cy="40690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14B8A6"/>
                </a:solidFill>
                <a:latin typeface="Segoe UI"/>
              </a:rPr>
              <a:t>BROWSER  (Chromium / Firefox / WebKit)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4A3B8"/>
                </a:solidFill>
                <a:latin typeface="Segoe UI"/>
              </a:rPr>
              <a:t>Launched ONCE per test run — expensive (~1-2s)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3131820" cy="28803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414016"/>
            <a:ext cx="28026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50">
                <a:solidFill>
                  <a:srgbClr val="14B8A6"/>
                </a:solidFill>
                <a:latin typeface="Segoe UI"/>
              </a:rPr>
              <a:t>CONTEXT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88336"/>
            <a:ext cx="28026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CBD5E1"/>
                </a:solidFill>
                <a:latin typeface="Segoe UI"/>
              </a:rPr>
              <a:t>Test: 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072384"/>
            <a:ext cx="2802636" cy="566928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" y="3072384"/>
            <a:ext cx="251002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Page 1 — login 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785615"/>
            <a:ext cx="2802636" cy="566928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3785615"/>
            <a:ext cx="251002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Page 2 —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855464"/>
            <a:ext cx="28026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94A3B8"/>
                </a:solidFill>
                <a:latin typeface="Segoe UI"/>
              </a:rPr>
              <a:t>isolated · ~5ms to 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1939" y="2286000"/>
            <a:ext cx="3131820" cy="28803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6531" y="2414016"/>
            <a:ext cx="28026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50">
                <a:solidFill>
                  <a:srgbClr val="14B8A6"/>
                </a:solidFill>
                <a:latin typeface="Segoe UI"/>
              </a:rPr>
              <a:t>CONTEXT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6531" y="2688336"/>
            <a:ext cx="28026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CBD5E1"/>
                </a:solidFill>
                <a:latin typeface="Segoe UI"/>
              </a:rPr>
              <a:t>Test: Checkout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6531" y="3072384"/>
            <a:ext cx="2802636" cy="566928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02836" y="3072384"/>
            <a:ext cx="251002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Page 1 — cart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6531" y="4855464"/>
            <a:ext cx="280263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94A3B8"/>
                </a:solidFill>
                <a:latin typeface="Segoe UI"/>
              </a:rPr>
              <a:t>isolated · ~5ms to create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737360"/>
            <a:ext cx="3916375" cy="947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863840" y="1828800"/>
            <a:ext cx="45720" cy="765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083296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83296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87452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2295144"/>
            <a:ext cx="3422599" cy="207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Segoe UI"/>
              </a:rPr>
              <a:t>The underlying engine. Launched once per run. Expensive to start, so reuse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813304"/>
            <a:ext cx="3916375" cy="947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863840" y="2904744"/>
            <a:ext cx="45720" cy="765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83296" y="2968752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83296" y="29687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950464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Browser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3371088"/>
            <a:ext cx="3422599" cy="207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Segoe UI"/>
              </a:rPr>
              <a:t>An isolated, incognito-style session. Cheap to create (~5ms). Restart this per test — not the browser.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889248"/>
            <a:ext cx="3916375" cy="947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863840" y="3980688"/>
            <a:ext cx="45720" cy="765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083296" y="4044696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83296" y="40446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026408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Page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4447032"/>
            <a:ext cx="3422599" cy="207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75569"/>
                </a:solidFill>
                <a:latin typeface="Segoe UI"/>
              </a:rPr>
              <a:t>A single tab inside a context. Independent, but shares cookies within its context.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965192"/>
            <a:ext cx="3916375" cy="841248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10144" y="4965192"/>
            <a:ext cx="3440887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D97706"/>
                </a:solidFill>
                <a:latin typeface="Segoe UI"/>
              </a:rPr>
              <a:t>◆  </a:t>
            </a:r>
            <a:r>
              <a:rPr sz="1019" b="0" i="0">
                <a:solidFill>
                  <a:srgbClr val="B45309"/>
                </a:solidFill>
                <a:latin typeface="Segoe UI"/>
              </a:rPr>
              <a:t>Selenium restarts the whole browser per test (~1.5s). Playwright restarts just the context (~5ms).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4 ·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Your First Test — Read Before You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The sync API in twelve lines. Read it, run it, understand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4 · CORE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17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6309360" cy="4370832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1856232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7532" y="1856232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9264" y="1856232"/>
            <a:ext cx="77724" cy="777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181051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14B8A6"/>
                </a:solidFill>
                <a:latin typeface="Segoe UI"/>
              </a:rPr>
              <a:t>hello_world.py · sync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093976"/>
            <a:ext cx="5943600" cy="3922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569CD6"/>
                </a:solidFill>
                <a:latin typeface="Consolas"/>
              </a:rPr>
              <a:t>from</a:t>
            </a:r>
            <a:r>
              <a:rPr sz="1250">
                <a:solidFill>
                  <a:srgbClr val="D4D4D4"/>
                </a:solidFill>
                <a:latin typeface="Consolas"/>
              </a:rPr>
              <a:t> playwright.sync_api </a:t>
            </a:r>
            <a:r>
              <a:rPr sz="1250">
                <a:solidFill>
                  <a:srgbClr val="569CD6"/>
                </a:solidFill>
                <a:latin typeface="Consolas"/>
              </a:rPr>
              <a:t>import</a:t>
            </a:r>
            <a:r>
              <a:rPr sz="1250">
                <a:solidFill>
                  <a:srgbClr val="D4D4D4"/>
                </a:solidFill>
                <a:latin typeface="Consolas"/>
              </a:rPr>
              <a:t> sync_playwright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569CD6"/>
                </a:solidFill>
                <a:latin typeface="Consolas"/>
              </a:rPr>
              <a:t>with</a:t>
            </a:r>
            <a:r>
              <a:rPr sz="1250">
                <a:solidFill>
                  <a:srgbClr val="D4D4D4"/>
                </a:solidFill>
                <a:latin typeface="Consolas"/>
              </a:rPr>
              <a:t> </a:t>
            </a:r>
            <a:r>
              <a:rPr sz="1250">
                <a:solidFill>
                  <a:srgbClr val="DCDCAA"/>
                </a:solidFill>
                <a:latin typeface="Consolas"/>
              </a:rPr>
              <a:t>sync_playwright</a:t>
            </a:r>
            <a:r>
              <a:rPr sz="1250">
                <a:solidFill>
                  <a:srgbClr val="D4D4D4"/>
                </a:solidFill>
                <a:latin typeface="Consolas"/>
              </a:rPr>
              <a:t>() </a:t>
            </a:r>
            <a:r>
              <a:rPr sz="1250">
                <a:solidFill>
                  <a:srgbClr val="569CD6"/>
                </a:solidFill>
                <a:latin typeface="Consolas"/>
              </a:rPr>
              <a:t>as</a:t>
            </a:r>
            <a:r>
              <a:rPr sz="1250">
                <a:solidFill>
                  <a:srgbClr val="D4D4D4"/>
                </a:solidFill>
                <a:latin typeface="Consolas"/>
              </a:rPr>
              <a:t> 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# 1. Launch Browser (Tier 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browser = p.chromium.</a:t>
            </a:r>
            <a:r>
              <a:rPr sz="1250">
                <a:solidFill>
                  <a:srgbClr val="DCDCAA"/>
                </a:solidFill>
                <a:latin typeface="Consolas"/>
              </a:rPr>
              <a:t>launch</a:t>
            </a:r>
            <a:r>
              <a:rPr sz="1250">
                <a:solidFill>
                  <a:srgbClr val="D4D4D4"/>
                </a:solidFill>
                <a:latin typeface="Consolas"/>
              </a:rPr>
              <a:t>(headless=</a:t>
            </a:r>
            <a:r>
              <a:rPr sz="1250">
                <a:solidFill>
                  <a:srgbClr val="569CD6"/>
                </a:solidFill>
                <a:latin typeface="Consolas"/>
              </a:rPr>
              <a:t>False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# 2. Open Context (Tier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context = browser.</a:t>
            </a:r>
            <a:r>
              <a:rPr sz="1250">
                <a:solidFill>
                  <a:srgbClr val="DCDCAA"/>
                </a:solidFill>
                <a:latin typeface="Consolas"/>
              </a:rPr>
              <a:t>new_context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# 3. Open Tab (Tier 3)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page = context.</a:t>
            </a:r>
            <a:r>
              <a:rPr sz="1250">
                <a:solidFill>
                  <a:srgbClr val="DCDCAA"/>
                </a:solidFill>
                <a:latin typeface="Consolas"/>
              </a:rPr>
              <a:t>new_page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# 4. 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page.</a:t>
            </a:r>
            <a:r>
              <a:rPr sz="1250">
                <a:solidFill>
                  <a:srgbClr val="DCDCAA"/>
                </a:solidFill>
                <a:latin typeface="Consolas"/>
              </a:rPr>
              <a:t>goto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"https://example.com"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DCDCAA"/>
                </a:solidFill>
                <a:latin typeface="Consolas"/>
              </a:rPr>
              <a:t>print</a:t>
            </a:r>
            <a:r>
              <a:rPr sz="1250">
                <a:solidFill>
                  <a:srgbClr val="D4D4D4"/>
                </a:solidFill>
                <a:latin typeface="Consolas"/>
              </a:rPr>
              <a:t>(page.</a:t>
            </a:r>
            <a:r>
              <a:rPr sz="1250">
                <a:solidFill>
                  <a:srgbClr val="DCDCAA"/>
                </a:solidFill>
                <a:latin typeface="Consolas"/>
              </a:rPr>
              <a:t>title</a:t>
            </a:r>
            <a:r>
              <a:rPr sz="1250">
                <a:solidFill>
                  <a:srgbClr val="D4D4D4"/>
                </a:solidFill>
                <a:latin typeface="Consolas"/>
              </a:rPr>
              <a:t>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6A9955"/>
                </a:solidFill>
                <a:latin typeface="Consolas"/>
              </a:rPr>
              <a:t># 5. Cleanup (automatic via 'with')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browser.</a:t>
            </a:r>
            <a:r>
              <a:rPr sz="1250">
                <a:solidFill>
                  <a:srgbClr val="DCDCAA"/>
                </a:solidFill>
                <a:latin typeface="Consolas"/>
              </a:rPr>
              <a:t>close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04888" y="1737360"/>
            <a:ext cx="4583887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96328" y="1828800"/>
            <a:ext cx="45720" cy="11704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15784" y="1892808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with = using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2185416"/>
            <a:ext cx="4090111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75569"/>
                </a:solidFill>
                <a:latin typeface="Segoe UI"/>
              </a:rPr>
              <a:t>Python's with block is C#'s using statement — Playwright shuts down cleanly even if the test crashes.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3218688"/>
            <a:ext cx="4583887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96328" y="3310128"/>
            <a:ext cx="45720" cy="11704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15784" y="3374136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3-tier in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4" y="3666744"/>
            <a:ext cx="4090111" cy="722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75569"/>
                </a:solidFill>
                <a:latin typeface="Segoe UI"/>
              </a:rPr>
              <a:t>Lines 4-10 show the exact Browser → Context → Page hierarchy from the previous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4700016"/>
            <a:ext cx="4583887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96328" y="4791456"/>
            <a:ext cx="45720" cy="11704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15784" y="4855464"/>
            <a:ext cx="40901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No assertions yet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4" y="5148072"/>
            <a:ext cx="4090111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75569"/>
                </a:solidFill>
                <a:latin typeface="Segoe UI"/>
              </a:rPr>
              <a:t>This only navigates. A real test adds expect(...) — covered in Module 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5 OF 7 · LOCATORS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Locators: Where AI Gets It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This is the single most important module in this workshop. Most AI mistakes live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72272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72272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LOCATOR HIERARCHY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0241" y="4160520"/>
            <a:ext cx="138623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0241" y="4160520"/>
            <a:ext cx="138623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BRITTLE XPATH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1063" y="41605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41063" y="41605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HARDCODED SLEEP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0136" y="4160520"/>
            <a:ext cx="172272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0136" y="4160520"/>
            <a:ext cx="172272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MISSING ASSERTION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EF4444"/>
                </a:solidFill>
                <a:latin typeface="Segoe UI"/>
              </a:rPr>
              <a:t>MODULE 5 · LOCATORS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The Locator Hierarchy — Playwright's Own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“Test like a user, not like a machine.”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5 · LOCATORS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19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11185855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7512" y="199339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199339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50">
                <a:solidFill>
                  <a:srgbClr val="FFFFFF"/>
                </a:solidFill>
                <a:latin typeface="Segoe UI"/>
              </a:rPr>
              <a:t>BEST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1737360"/>
            <a:ext cx="2331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onsolas"/>
              </a:rPr>
              <a:t>get_by_role()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4" y="1737360"/>
            <a:ext cx="7381951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Find by ARIA role + accessible name. Survives most UI refactors. Use this ~80% of the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70048"/>
            <a:ext cx="11185855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" y="29260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92608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50">
                <a:solidFill>
                  <a:srgbClr val="FFFFFF"/>
                </a:solidFill>
                <a:latin typeface="Segoe UI"/>
              </a:rPr>
              <a:t>GREAT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4" y="2670048"/>
            <a:ext cx="2331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onsolas"/>
              </a:rPr>
              <a:t>get_by_label()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4" y="2670048"/>
            <a:ext cx="7381951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Find form inputs by their &lt;label&gt; text. Ideal for login and settings forms.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02736"/>
            <a:ext cx="11185855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7512" y="38587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85876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50">
                <a:solidFill>
                  <a:srgbClr val="FFFFFF"/>
                </a:solidFill>
                <a:latin typeface="Segoe UI"/>
              </a:rP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4" y="3602736"/>
            <a:ext cx="2331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onsolas"/>
              </a:rPr>
              <a:t>get_by_text()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3944" y="3602736"/>
            <a:ext cx="7381951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Find by visible text. Good for headings, banners, confirmation messages.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35424"/>
            <a:ext cx="11185855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7512" y="479145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4791456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50">
                <a:solidFill>
                  <a:srgbClr val="FFFFFF"/>
                </a:solidFill>
                <a:latin typeface="Segoe UI"/>
              </a:rPr>
              <a:t>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92224" y="4535424"/>
            <a:ext cx="2331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onsolas"/>
              </a:rPr>
              <a:t>get_by_test_id()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4535424"/>
            <a:ext cx="7381951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Finds a data-testid attribute. Stable, but needs front-end cooperation to add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68112"/>
            <a:ext cx="11185855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67512" y="57241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572414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50">
                <a:solidFill>
                  <a:srgbClr val="FFFFFF"/>
                </a:solidFill>
                <a:latin typeface="Segoe UI"/>
              </a:rPr>
              <a:t>AVOID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92224" y="5468112"/>
            <a:ext cx="2331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Consolas"/>
              </a:rPr>
              <a:t>locator(css / xpath)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3944" y="5468112"/>
            <a:ext cx="7381951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75569"/>
                </a:solidFill>
                <a:latin typeface="Segoe UI"/>
              </a:rPr>
              <a:t>Brittle in modern frameworks like Next.js/React. Last resort only.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EF4444"/>
                </a:solidFill>
                <a:latin typeface="Segoe UI"/>
              </a:rPr>
              <a:t>MODULE 5 · LOCATORS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Red Flag #1 — The Brittle XPath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Ten levels deep, and one new wrapper &lt;div&gt; breaks everything.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5 · LOCATORS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20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464911" cy="3840480"/>
          </a:xfrm>
          <a:prstGeom prst="roundRect">
            <a:avLst>
              <a:gd name="adj" fmla="val 3500"/>
            </a:avLst>
          </a:prstGeom>
          <a:solidFill>
            <a:srgbClr val="FEF2F2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50625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91C1C"/>
                </a:solidFill>
                <a:latin typeface="Segoe UI"/>
              </a:rPr>
              <a:t>✕  AI-Generated (Brittle)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194560"/>
            <a:ext cx="5062575" cy="1997049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551176"/>
            <a:ext cx="4696815" cy="1548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Real AI-generated output — BRITTLE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elem = page.</a:t>
            </a:r>
            <a:r>
              <a:rPr sz="1250">
                <a:solidFill>
                  <a:srgbClr val="DCDCAA"/>
                </a:solidFill>
                <a:latin typeface="Consolas"/>
              </a:rPr>
              <a:t>locator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"xpath=html/body/div/section/div[2]"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"/div[2]/div[3]/section/div/span"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"/div/div/div/span/div/div/button"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).</a:t>
            </a:r>
            <a:r>
              <a:rPr sz="1250">
                <a:solidFill>
                  <a:srgbClr val="DCDCAA"/>
                </a:solidFill>
                <a:latin typeface="Consolas"/>
              </a:rPr>
              <a:t>nth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0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elem.</a:t>
            </a:r>
            <a:r>
              <a:rPr sz="1250">
                <a:solidFill>
                  <a:srgbClr val="DCDCAA"/>
                </a:solidFill>
                <a:latin typeface="Consolas"/>
              </a:rPr>
              <a:t>click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319625"/>
            <a:ext cx="5062575" cy="1130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10 levels deep — any wrapper change breaks 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.nth(0) relies on position, not meaning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No semantic intent — what button is this?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737360"/>
            <a:ext cx="5464911" cy="3840480"/>
          </a:xfrm>
          <a:prstGeom prst="roundRect">
            <a:avLst>
              <a:gd name="adj" fmla="val 35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5031" y="1865376"/>
            <a:ext cx="50625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✓  Reviewed &amp;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5031" y="2194560"/>
            <a:ext cx="5062575" cy="1997049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7911" y="2551176"/>
            <a:ext cx="4696815" cy="1548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Reviewed and fixed by a developer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submit_btn = page.</a:t>
            </a:r>
            <a:r>
              <a:rPr sz="1250">
                <a:solidFill>
                  <a:srgbClr val="DCDCAA"/>
                </a:solidFill>
                <a:latin typeface="Consolas"/>
              </a:rPr>
              <a:t>get_by_role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"button"</a:t>
            </a:r>
            <a:r>
              <a:rPr sz="1250">
                <a:solidFill>
                  <a:srgbClr val="D4D4D4"/>
                </a:solidFill>
                <a:latin typeface="Consolas"/>
              </a:rPr>
              <a:t>, name=</a:t>
            </a:r>
            <a:r>
              <a:rPr sz="1250">
                <a:solidFill>
                  <a:srgbClr val="CE9178"/>
                </a:solidFill>
                <a:latin typeface="Consolas"/>
              </a:rPr>
              <a:t>"Create Role"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submit_btn.</a:t>
            </a:r>
            <a:r>
              <a:rPr sz="1250">
                <a:solidFill>
                  <a:srgbClr val="DCDCAA"/>
                </a:solidFill>
                <a:latin typeface="Consolas"/>
              </a:rPr>
              <a:t>click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4319625"/>
            <a:ext cx="5062575" cy="1130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Targets role + accessible name — semantic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No positional index needed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Anyone reading it knows what it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5742432"/>
            <a:ext cx="1071036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4155"/>
                </a:solidFill>
                <a:latin typeface="Segoe UI"/>
              </a:rPr>
              <a:t>⚑  RULE 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If a locator contains an absolute XPath longer than 2-3 levels, or a hashed CSS class, send it back for rework.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EF4444"/>
                </a:solidFill>
                <a:latin typeface="Segoe UI"/>
              </a:rPr>
              <a:t>MODULE 5 · LOCATORS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Red Flag #2 — The Hardcoded Sleep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wait_for_timeout(3000) is a bug, not a solution.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5 · LOCATORS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21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464911" cy="3840480"/>
          </a:xfrm>
          <a:prstGeom prst="roundRect">
            <a:avLst>
              <a:gd name="adj" fmla="val 3500"/>
            </a:avLst>
          </a:prstGeom>
          <a:solidFill>
            <a:srgbClr val="FEF2F2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50625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91C1C"/>
                </a:solidFill>
                <a:latin typeface="Segoe UI"/>
              </a:rPr>
              <a:t>✕  AI Output (Slow &amp; Flaky)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194560"/>
            <a:ext cx="5062575" cy="176662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551176"/>
            <a:ext cx="4696815" cy="1318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page.</a:t>
            </a:r>
            <a:r>
              <a:rPr sz="1250">
                <a:solidFill>
                  <a:srgbClr val="DCDCAA"/>
                </a:solidFill>
                <a:latin typeface="Consolas"/>
              </a:rPr>
              <a:t>wait_for_timeout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B5CEA8"/>
                </a:solidFill>
                <a:latin typeface="Consolas"/>
              </a:rPr>
              <a:t>3000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elem.</a:t>
            </a:r>
            <a:r>
              <a:rPr sz="1250">
                <a:solidFill>
                  <a:srgbClr val="DCDCAA"/>
                </a:solidFill>
                <a:latin typeface="Consolas"/>
              </a:rPr>
              <a:t>click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3-second blind wait — no check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the element is actually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89196"/>
            <a:ext cx="5062575" cy="1360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Fast app? Wastes 2+ seconds, every single run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Slow app? Test fails anyway — 3s wasn't enough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At 500 tests, that's minutes wasted per CI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737360"/>
            <a:ext cx="5464911" cy="3840480"/>
          </a:xfrm>
          <a:prstGeom prst="roundRect">
            <a:avLst>
              <a:gd name="adj" fmla="val 35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5031" y="1865376"/>
            <a:ext cx="50625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✓  Human Refactored (Smart Wait)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5031" y="2194560"/>
            <a:ext cx="5062575" cy="176662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7911" y="2551176"/>
            <a:ext cx="4696815" cy="1318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569CD6"/>
                </a:solidFill>
                <a:latin typeface="Consolas"/>
              </a:rPr>
              <a:t>from</a:t>
            </a:r>
            <a:r>
              <a:rPr sz="1250">
                <a:solidFill>
                  <a:srgbClr val="D4D4D4"/>
                </a:solidFill>
                <a:latin typeface="Consolas"/>
              </a:rPr>
              <a:t> playwright.sync_api </a:t>
            </a:r>
            <a:r>
              <a:rPr sz="1250">
                <a:solidFill>
                  <a:srgbClr val="569CD6"/>
                </a:solidFill>
                <a:latin typeface="Consolas"/>
              </a:rPr>
              <a:t>import</a:t>
            </a:r>
            <a:r>
              <a:rPr sz="1250">
                <a:solidFill>
                  <a:srgbClr val="D4D4D4"/>
                </a:solidFill>
                <a:latin typeface="Consolas"/>
              </a:rPr>
              <a:t> expect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btn = page.</a:t>
            </a:r>
            <a:r>
              <a:rPr sz="1250">
                <a:solidFill>
                  <a:srgbClr val="DCDCAA"/>
                </a:solidFill>
                <a:latin typeface="Consolas"/>
              </a:rPr>
              <a:t>get_by_role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"button"</a:t>
            </a:r>
            <a:r>
              <a:rPr sz="1250">
                <a:solidFill>
                  <a:srgbClr val="D4D4D4"/>
                </a:solidFill>
                <a:latin typeface="Consolas"/>
              </a:rPr>
              <a:t>, name=</a:t>
            </a:r>
            <a:r>
              <a:rPr sz="1250">
                <a:solidFill>
                  <a:srgbClr val="CE9178"/>
                </a:solidFill>
                <a:latin typeface="Consolas"/>
              </a:rPr>
              <a:t>"Save"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DCAA"/>
                </a:solidFill>
                <a:latin typeface="Consolas"/>
              </a:rPr>
              <a:t>expect</a:t>
            </a:r>
            <a:r>
              <a:rPr sz="1250">
                <a:solidFill>
                  <a:srgbClr val="D4D4D4"/>
                </a:solidFill>
                <a:latin typeface="Consolas"/>
              </a:rPr>
              <a:t>(btn).</a:t>
            </a:r>
            <a:r>
              <a:rPr sz="1250">
                <a:solidFill>
                  <a:srgbClr val="DCDCAA"/>
                </a:solidFill>
                <a:latin typeface="Consolas"/>
              </a:rPr>
              <a:t>to_be_visible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btn.</a:t>
            </a:r>
            <a:r>
              <a:rPr sz="1250">
                <a:solidFill>
                  <a:srgbClr val="DCDCAA"/>
                </a:solidFill>
                <a:latin typeface="Consolas"/>
              </a:rPr>
              <a:t>click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4089196"/>
            <a:ext cx="5062575" cy="1360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Waits exactly as long as needed (5s default cap)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Returns immediately once the element is ready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Across 500 tests: zero wasted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5742432"/>
            <a:ext cx="1071036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4155"/>
                </a:solidFill>
                <a:latin typeface="Segoe UI"/>
              </a:rPr>
              <a:t>⚑  RULE 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Never approve a test containing wait_for_timeout or time.sleep. There is always an expect() alternative.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EF4444"/>
                </a:solidFill>
                <a:latin typeface="Segoe UI"/>
              </a:rPr>
              <a:t>MODULE 5 · LOCATORS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Red Flag #3 — The Missing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A test with no assertion always passes. It tests nothing.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5 · LOCATORS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22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464911" cy="3840480"/>
          </a:xfrm>
          <a:prstGeom prst="roundRect">
            <a:avLst>
              <a:gd name="adj" fmla="val 3500"/>
            </a:avLst>
          </a:prstGeom>
          <a:solidFill>
            <a:srgbClr val="FEF2F2"/>
          </a:solidFill>
          <a:ln w="12700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50625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91C1C"/>
                </a:solidFill>
                <a:latin typeface="Segoe UI"/>
              </a:rPr>
              <a:t>✕  AI Output (No Assertion)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194560"/>
            <a:ext cx="5062575" cy="2112264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551176"/>
            <a:ext cx="4696815" cy="16642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page.</a:t>
            </a:r>
            <a:r>
              <a:rPr sz="1250">
                <a:solidFill>
                  <a:srgbClr val="DCDCAA"/>
                </a:solidFill>
                <a:latin typeface="Consolas"/>
              </a:rPr>
              <a:t>goto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"https://app.com"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page.</a:t>
            </a:r>
            <a:r>
              <a:rPr sz="1250">
                <a:solidFill>
                  <a:srgbClr val="DCDCAA"/>
                </a:solidFill>
                <a:latin typeface="Consolas"/>
              </a:rPr>
              <a:t>get_by_role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"button"</a:t>
            </a:r>
            <a:r>
              <a:rPr sz="1250">
                <a:solidFill>
                  <a:srgbClr val="D4D4D4"/>
                </a:solidFill>
                <a:latin typeface="Consolas"/>
              </a:rPr>
              <a:t>, name=</a:t>
            </a:r>
            <a:r>
              <a:rPr sz="1250">
                <a:solidFill>
                  <a:srgbClr val="CE9178"/>
                </a:solidFill>
                <a:latin typeface="Consolas"/>
              </a:rPr>
              <a:t>"Login"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).</a:t>
            </a:r>
            <a:r>
              <a:rPr sz="1250">
                <a:solidFill>
                  <a:srgbClr val="DCDCAA"/>
                </a:solidFill>
                <a:latin typeface="Consolas"/>
              </a:rPr>
              <a:t>click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... test ends here.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6A9955"/>
                </a:solidFill>
                <a:latin typeface="Consolas"/>
              </a:rPr>
              <a:t># No expect(). No assert.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434840"/>
            <a:ext cx="5062575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The script clicked Login — but did it work?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Did it crash? Show an error? We never check.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DC2626"/>
                </a:solidFill>
                <a:latin typeface="Segoe UI"/>
              </a:rPr>
              <a:t>✕  </a:t>
            </a:r>
            <a:r>
              <a:rPr sz="1030" b="0" i="0">
                <a:solidFill>
                  <a:srgbClr val="B91C1C"/>
                </a:solidFill>
                <a:latin typeface="Segoe UI"/>
              </a:rPr>
              <a:t>No assertion means the test verifies nothing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737360"/>
            <a:ext cx="5464911" cy="3840480"/>
          </a:xfrm>
          <a:prstGeom prst="roundRect">
            <a:avLst>
              <a:gd name="adj" fmla="val 35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5031" y="1865376"/>
            <a:ext cx="50625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✓  Reviewed &amp; 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5031" y="2194560"/>
            <a:ext cx="5062575" cy="2112264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7911" y="2551176"/>
            <a:ext cx="4696815" cy="16642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page.</a:t>
            </a:r>
            <a:r>
              <a:rPr sz="1250">
                <a:solidFill>
                  <a:srgbClr val="DCDCAA"/>
                </a:solidFill>
                <a:latin typeface="Consolas"/>
              </a:rPr>
              <a:t>goto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"https://app.com"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page.</a:t>
            </a:r>
            <a:r>
              <a:rPr sz="1250">
                <a:solidFill>
                  <a:srgbClr val="DCDCAA"/>
                </a:solidFill>
                <a:latin typeface="Consolas"/>
              </a:rPr>
              <a:t>get_by_role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    </a:t>
            </a:r>
            <a:r>
              <a:rPr sz="1250">
                <a:solidFill>
                  <a:srgbClr val="CE9178"/>
                </a:solidFill>
                <a:latin typeface="Consolas"/>
              </a:rPr>
              <a:t>"button"</a:t>
            </a:r>
            <a:r>
              <a:rPr sz="1250">
                <a:solidFill>
                  <a:srgbClr val="D4D4D4"/>
                </a:solidFill>
                <a:latin typeface="Consolas"/>
              </a:rPr>
              <a:t>, name=</a:t>
            </a:r>
            <a:r>
              <a:rPr sz="1250">
                <a:solidFill>
                  <a:srgbClr val="CE9178"/>
                </a:solidFill>
                <a:latin typeface="Consolas"/>
              </a:rPr>
              <a:t>"Login"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4D4D4"/>
                </a:solidFill>
                <a:latin typeface="Consolas"/>
              </a:rPr>
              <a:t>).</a:t>
            </a:r>
            <a:r>
              <a:rPr sz="1250">
                <a:solidFill>
                  <a:srgbClr val="DCDCAA"/>
                </a:solidFill>
                <a:latin typeface="Consolas"/>
              </a:rPr>
              <a:t>click</a:t>
            </a:r>
            <a:r>
              <a:rPr sz="125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DCAA"/>
                </a:solidFill>
                <a:latin typeface="Consolas"/>
              </a:rPr>
              <a:t>expect</a:t>
            </a:r>
            <a:r>
              <a:rPr sz="1250">
                <a:solidFill>
                  <a:srgbClr val="D4D4D4"/>
                </a:solidFill>
                <a:latin typeface="Consolas"/>
              </a:rPr>
              <a:t>(page).</a:t>
            </a:r>
            <a:r>
              <a:rPr sz="1250">
                <a:solidFill>
                  <a:srgbClr val="DCDCAA"/>
                </a:solidFill>
                <a:latin typeface="Consolas"/>
              </a:rPr>
              <a:t>to_have_url</a:t>
            </a:r>
            <a:r>
              <a:rPr sz="1250">
                <a:solidFill>
                  <a:srgbClr val="D4D4D4"/>
                </a:solidFill>
                <a:latin typeface="Consolas"/>
              </a:rPr>
              <a:t>(</a:t>
            </a:r>
            <a:r>
              <a:rPr sz="1250">
                <a:solidFill>
                  <a:srgbClr val="CE9178"/>
                </a:solidFill>
                <a:latin typeface="Consolas"/>
              </a:rPr>
              <a:t>"**/dashboard"</a:t>
            </a:r>
            <a:r>
              <a:rPr sz="125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4434840"/>
            <a:ext cx="5062575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States explicitly what “success” means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Fails loudly the moment it isn't true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30" b="1" i="0">
                <a:solidFill>
                  <a:srgbClr val="0D9488"/>
                </a:solidFill>
                <a:latin typeface="Segoe UI"/>
              </a:rPr>
              <a:t>✓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Now the test actually proves something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42432"/>
            <a:ext cx="11185855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5742432"/>
            <a:ext cx="1071036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4155"/>
                </a:solidFill>
                <a:latin typeface="Segoe UI"/>
              </a:rPr>
              <a:t>⚑  RULE  </a:t>
            </a:r>
            <a:r>
              <a:rPr sz="1100" b="0" i="0">
                <a:solidFill>
                  <a:srgbClr val="475569"/>
                </a:solidFill>
                <a:latin typeface="Segoe UI"/>
              </a:rPr>
              <a:t>No expect(), no assert? Tag it “# TODO: REFACTOR” and send it back. Never delete AI output outright — it's often 80% correct.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6 OF 7 · ACTIONS &amp;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Actions, Assertions &amp; Debugging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The everyday commands you'll recognize in almost every AI-generated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89097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8909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ACTIONS CHEAT-SHEET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8491" y="4160520"/>
            <a:ext cx="2143353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8491" y="4160520"/>
            <a:ext cx="2143353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ASSERTIONS CHEAT-SHEET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6436" y="4160520"/>
            <a:ext cx="189097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6436" y="4160520"/>
            <a:ext cx="18909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DEBUGGING A 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6 · ACTIONS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The Commands You'll See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Two short tables that explain almost every line of generated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6 · ACTIONS &amp;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24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455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60">
                <a:solidFill>
                  <a:srgbClr val="334155"/>
                </a:solidFill>
                <a:latin typeface="Segoe UI"/>
              </a:rPr>
              <a:t>AUTO-WAITING ACTIONS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057400"/>
          <a:ext cx="5455767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9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Click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page.get_by_role("button", name="Submit").click()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Fill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page.get_by_label("Email").fill("a@b.com")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Check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page.get_by_label("Subscribe").check()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Select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page.get_by_label("Country").select_option("US")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Press key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page.get_by_label("Search").press("Enter")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526280"/>
            <a:ext cx="5455767" cy="8686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4526280"/>
            <a:ext cx="4980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D97706"/>
                </a:solidFill>
                <a:latin typeface="Segoe UI"/>
              </a:rPr>
              <a:t>◆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Every action above auto-waits — visible, stable, enabled — before it fires. No time.sleep, ever.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1737360"/>
            <a:ext cx="5455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60">
                <a:solidFill>
                  <a:srgbClr val="334155"/>
                </a:solidFill>
                <a:latin typeface="Segoe UI"/>
              </a:rPr>
              <a:t>WEB-FIRST ASSERTIONS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33007" y="2057400"/>
          <a:ext cx="5455767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Matcher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Checks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to_be_visible()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Element is on screen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to_be_enabled() / to_be_disabled()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Element can / can't be interacted with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to_have_text()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Exact visible text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to_have_url()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Current page URL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to_have_count()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334155"/>
                          </a:solidFill>
                          <a:latin typeface="Segoe UI"/>
                        </a:rPr>
                        <a:t>Number of matching elements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33007" y="4526280"/>
            <a:ext cx="5455767" cy="8686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0751" y="4526280"/>
            <a:ext cx="4980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D97706"/>
                </a:solidFill>
                <a:latin typeface="Segoe UI"/>
              </a:rPr>
              <a:t>◆  </a:t>
            </a:r>
            <a:r>
              <a:rPr sz="1030" b="0" i="0">
                <a:solidFill>
                  <a:srgbClr val="0F766E"/>
                </a:solidFill>
                <a:latin typeface="Segoe UI"/>
              </a:rPr>
              <a:t>expect() polls for up to 5s by default — it's Assert + Wait.Until in one call.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6 · ACTIONS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Debugging a Failing Test — 3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Three techniques that turn “test failed” into “I see exactly what happened.”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6 · ACTIONS &amp;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25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576218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5720" cy="1371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Turn Off Headless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295144"/>
            <a:ext cx="3082442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headless=False (plus slow_mo=1000) opens a visible browser so you can watch exactly what the test does.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1737360"/>
            <a:ext cx="3576218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99178" y="1828800"/>
            <a:ext cx="45720" cy="1371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18634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8634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258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Insert page.pause()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8634" y="2295144"/>
            <a:ext cx="3082442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Drops you into the Playwright Inspector right before the failing line. Step through and inspect locators live.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2556" y="1737360"/>
            <a:ext cx="3576218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03996" y="1828800"/>
            <a:ext cx="45720" cy="1371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23452" y="1892808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23452" y="1892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4076" y="1874520"/>
            <a:ext cx="26618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Trace 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3452" y="2295144"/>
            <a:ext cx="3082442" cy="81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Replays DOM snapshots, network requests, console logs and screenshots for every action — frame by 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47872"/>
            <a:ext cx="11185855" cy="260604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5800" y="3666744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7532" y="3666744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9264" y="3666744"/>
            <a:ext cx="77724" cy="777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97864" y="3621024"/>
            <a:ext cx="1036289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14B8A6"/>
                </a:solidFill>
                <a:latin typeface="Segoe UI"/>
              </a:rPr>
              <a:t>debug commands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904487"/>
            <a:ext cx="10820095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Headless off + slow motion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browser = p.chromium.</a:t>
            </a:r>
            <a:r>
              <a:rPr sz="1300">
                <a:solidFill>
                  <a:srgbClr val="DCDCAA"/>
                </a:solidFill>
                <a:latin typeface="Consolas"/>
              </a:rPr>
              <a:t>launch</a:t>
            </a:r>
            <a:r>
              <a:rPr sz="1300">
                <a:solidFill>
                  <a:srgbClr val="D4D4D4"/>
                </a:solidFill>
                <a:latin typeface="Consolas"/>
              </a:rPr>
              <a:t>(headless=</a:t>
            </a:r>
            <a:r>
              <a:rPr sz="1300">
                <a:solidFill>
                  <a:srgbClr val="569CD6"/>
                </a:solidFill>
                <a:latin typeface="Consolas"/>
              </a:rPr>
              <a:t>False</a:t>
            </a:r>
            <a:r>
              <a:rPr sz="1300">
                <a:solidFill>
                  <a:srgbClr val="D4D4D4"/>
                </a:solidFill>
                <a:latin typeface="Consolas"/>
              </a:rPr>
              <a:t>, slow_mo=</a:t>
            </a:r>
            <a:r>
              <a:rPr sz="1300">
                <a:solidFill>
                  <a:srgbClr val="B5CEA8"/>
                </a:solidFill>
                <a:latin typeface="Consolas"/>
              </a:rPr>
              <a:t>1000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Pause and open the Inspector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page.</a:t>
            </a:r>
            <a:r>
              <a:rPr sz="1300">
                <a:solidFill>
                  <a:srgbClr val="DCDCAA"/>
                </a:solidFill>
                <a:latin typeface="Consolas"/>
              </a:rPr>
              <a:t>goto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"/checkout"</a:t>
            </a:r>
            <a:r>
              <a:rPr sz="1300">
                <a:solidFill>
                  <a:srgbClr val="D4D4D4"/>
                </a:solidFill>
                <a:latin typeface="Consolas"/>
              </a:rPr>
              <a:t>); page.</a:t>
            </a:r>
            <a:r>
              <a:rPr sz="1300">
                <a:solidFill>
                  <a:srgbClr val="DCDCAA"/>
                </a:solidFill>
                <a:latin typeface="Consolas"/>
              </a:rPr>
              <a:t>pause</a:t>
            </a:r>
            <a:r>
              <a:rPr sz="130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Record + replay a trace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pytest.ini:  --tracing=retain-on-failure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# CLI:         playwright show-trace trace.zip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103120" y="4297680"/>
            <a:ext cx="4572000" cy="4572000"/>
          </a:xfrm>
          <a:prstGeom prst="ellipse">
            <a:avLst/>
          </a:prstGeom>
          <a:solidFill>
            <a:srgbClr val="0D94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0" y="502920"/>
            <a:ext cx="38404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0" b="1" i="0">
                <a:solidFill>
                  <a:srgbClr val="334155"/>
                </a:solidFill>
                <a:latin typeface="Segoe UI Black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MODULE 7 OF 7 · RUNNING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Running &amp; Structuring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How to run what AI generated yourself, and keep it from turning into spaghetti — no AI tool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15544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PYTEST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1991" y="4160520"/>
            <a:ext cx="1722729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21991" y="4160520"/>
            <a:ext cx="172272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60">
                <a:solidFill>
                  <a:srgbClr val="E2E8F0"/>
                </a:solidFill>
                <a:latin typeface="Segoe UI"/>
              </a:rPr>
              <a:t>PAGE OBJECT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64748B"/>
                </a:solidFill>
                <a:latin typeface="Segoe UI"/>
              </a:rPr>
              <a:t>PLAYWRIGHT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7 · RUNNING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Running Tests with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The standard Python test runner — equivalent to xUnit/NUnit in .NET or Jest in Node.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7 · RUNNING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27 /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60">
                <a:solidFill>
                  <a:srgbClr val="334155"/>
                </a:solidFill>
                <a:latin typeface="Segoe UI"/>
              </a:rPr>
              <a:t>COMMAND CHEAT-SHEET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057400"/>
          <a:ext cx="457200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128016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pytest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Run every test in the project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pytest test_login.py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Run one file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pytest -k login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Run tests whose name matches “login”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pytest --headed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Show the browser while running</a:t>
                      </a:r>
                    </a:p>
                  </a:txBody>
                  <a:tcPr marL="128016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pytest --html=report.html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Generate an HTML report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754880"/>
            <a:ext cx="4572000" cy="13258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4754880"/>
            <a:ext cx="4096512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D97706"/>
                </a:solidFill>
                <a:latin typeface="Segoe UI"/>
              </a:rPr>
              <a:t>◆  </a:t>
            </a:r>
            <a:r>
              <a:rPr sz="1080" b="0" i="0">
                <a:solidFill>
                  <a:srgbClr val="0F766E"/>
                </a:solidFill>
                <a:latin typeface="Segoe UI"/>
              </a:rPr>
              <a:t>pytest auto-discovers test_*.py files and test_*() functions. pytest-playwright injects a ready-to-use page fixture — no setup, no browser.close(), no boilerplate.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7528" y="1737360"/>
            <a:ext cx="6321247" cy="4370832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50408" y="1856232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92140" y="1856232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33872" y="1856232"/>
            <a:ext cx="77724" cy="777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2472" y="1810512"/>
            <a:ext cx="5498287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14B8A6"/>
                </a:solidFill>
                <a:latin typeface="Segoe UI"/>
              </a:rPr>
              <a:t>test_login.py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2093976"/>
            <a:ext cx="5955487" cy="3922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569CD6"/>
                </a:solidFill>
                <a:latin typeface="Consolas"/>
              </a:rPr>
              <a:t>from</a:t>
            </a:r>
            <a:r>
              <a:rPr sz="1160">
                <a:solidFill>
                  <a:srgbClr val="D4D4D4"/>
                </a:solidFill>
                <a:latin typeface="Consolas"/>
              </a:rPr>
              <a:t> playwright.sync_api </a:t>
            </a:r>
            <a:r>
              <a:rPr sz="1160">
                <a:solidFill>
                  <a:srgbClr val="569CD6"/>
                </a:solidFill>
                <a:latin typeface="Consolas"/>
              </a:rPr>
              <a:t>import</a:t>
            </a:r>
            <a:r>
              <a:rPr sz="1160">
                <a:solidFill>
                  <a:srgbClr val="D4D4D4"/>
                </a:solidFill>
                <a:latin typeface="Consolas"/>
              </a:rPr>
              <a:t> Page, expect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6A9955"/>
                </a:solidFill>
                <a:latin typeface="Consolas"/>
              </a:rPr>
              <a:t># 'page' is auto-injected by pytest-playwright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569CD6"/>
                </a:solidFill>
                <a:latin typeface="Consolas"/>
              </a:rPr>
              <a:t>def</a:t>
            </a:r>
            <a:r>
              <a:rPr sz="1160">
                <a:solidFill>
                  <a:srgbClr val="D4D4D4"/>
                </a:solidFill>
                <a:latin typeface="Consolas"/>
              </a:rPr>
              <a:t> </a:t>
            </a:r>
            <a:r>
              <a:rPr sz="1160">
                <a:solidFill>
                  <a:srgbClr val="DCDCAA"/>
                </a:solidFill>
                <a:latin typeface="Consolas"/>
              </a:rPr>
              <a:t>test_login_success</a:t>
            </a:r>
            <a:r>
              <a:rPr sz="1160">
                <a:solidFill>
                  <a:srgbClr val="D4D4D4"/>
                </a:solidFill>
                <a:latin typeface="Consolas"/>
              </a:rPr>
              <a:t>(page: Page):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page.</a:t>
            </a:r>
            <a:r>
              <a:rPr sz="1160">
                <a:solidFill>
                  <a:srgbClr val="DCDCAA"/>
                </a:solidFill>
                <a:latin typeface="Consolas"/>
              </a:rPr>
              <a:t>goto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  <a:r>
              <a:rPr sz="1160">
                <a:solidFill>
                  <a:srgbClr val="CE9178"/>
                </a:solidFill>
                <a:latin typeface="Consolas"/>
              </a:rPr>
              <a:t>"https://example.com/login"</a:t>
            </a:r>
            <a:r>
              <a:rPr sz="116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page.</a:t>
            </a:r>
            <a:r>
              <a:rPr sz="1160">
                <a:solidFill>
                  <a:srgbClr val="DCDCAA"/>
                </a:solidFill>
                <a:latin typeface="Consolas"/>
              </a:rPr>
              <a:t>get_by_label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  <a:r>
              <a:rPr sz="1160">
                <a:solidFill>
                  <a:srgbClr val="CE9178"/>
                </a:solidFill>
                <a:latin typeface="Consolas"/>
              </a:rPr>
              <a:t>"Username"</a:t>
            </a:r>
            <a:r>
              <a:rPr sz="1160">
                <a:solidFill>
                  <a:srgbClr val="D4D4D4"/>
                </a:solidFill>
                <a:latin typeface="Consolas"/>
              </a:rPr>
              <a:t>).</a:t>
            </a:r>
            <a:r>
              <a:rPr sz="1160">
                <a:solidFill>
                  <a:srgbClr val="DCDCAA"/>
                </a:solidFill>
                <a:latin typeface="Consolas"/>
              </a:rPr>
              <a:t>fill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    </a:t>
            </a:r>
            <a:r>
              <a:rPr sz="1160">
                <a:solidFill>
                  <a:srgbClr val="CE9178"/>
                </a:solidFill>
                <a:latin typeface="Consolas"/>
              </a:rPr>
              <a:t>"standard_user"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page.</a:t>
            </a:r>
            <a:r>
              <a:rPr sz="1160">
                <a:solidFill>
                  <a:srgbClr val="DCDCAA"/>
                </a:solidFill>
                <a:latin typeface="Consolas"/>
              </a:rPr>
              <a:t>get_by_label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  <a:r>
              <a:rPr sz="1160">
                <a:solidFill>
                  <a:srgbClr val="CE9178"/>
                </a:solidFill>
                <a:latin typeface="Consolas"/>
              </a:rPr>
              <a:t>"Password"</a:t>
            </a:r>
            <a:r>
              <a:rPr sz="1160">
                <a:solidFill>
                  <a:srgbClr val="D4D4D4"/>
                </a:solidFill>
                <a:latin typeface="Consolas"/>
              </a:rPr>
              <a:t>).</a:t>
            </a:r>
            <a:r>
              <a:rPr sz="1160">
                <a:solidFill>
                  <a:srgbClr val="DCDCAA"/>
                </a:solidFill>
                <a:latin typeface="Consolas"/>
              </a:rPr>
              <a:t>fill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    </a:t>
            </a:r>
            <a:r>
              <a:rPr sz="1160">
                <a:solidFill>
                  <a:srgbClr val="CE9178"/>
                </a:solidFill>
                <a:latin typeface="Consolas"/>
              </a:rPr>
              <a:t>"secret_sauce"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page.</a:t>
            </a:r>
            <a:r>
              <a:rPr sz="1160">
                <a:solidFill>
                  <a:srgbClr val="DCDCAA"/>
                </a:solidFill>
                <a:latin typeface="Consolas"/>
              </a:rPr>
              <a:t>get_by_role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    </a:t>
            </a:r>
            <a:r>
              <a:rPr sz="1160">
                <a:solidFill>
                  <a:srgbClr val="CE9178"/>
                </a:solidFill>
                <a:latin typeface="Consolas"/>
              </a:rPr>
              <a:t>"button"</a:t>
            </a:r>
            <a:r>
              <a:rPr sz="1160">
                <a:solidFill>
                  <a:srgbClr val="D4D4D4"/>
                </a:solidFill>
                <a:latin typeface="Consolas"/>
              </a:rPr>
              <a:t>, name=</a:t>
            </a:r>
            <a:r>
              <a:rPr sz="1160">
                <a:solidFill>
                  <a:srgbClr val="CE9178"/>
                </a:solidFill>
                <a:latin typeface="Consolas"/>
              </a:rPr>
              <a:t>"Login"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).</a:t>
            </a:r>
            <a:r>
              <a:rPr sz="1160">
                <a:solidFill>
                  <a:srgbClr val="DCDCAA"/>
                </a:solidFill>
                <a:latin typeface="Consolas"/>
              </a:rPr>
              <a:t>click</a:t>
            </a:r>
            <a:r>
              <a:rPr sz="116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60">
                <a:solidFill>
                  <a:srgbClr val="D4D4D4"/>
                </a:solidFill>
                <a:latin typeface="Consolas"/>
              </a:rPr>
              <a:t>    </a:t>
            </a:r>
            <a:r>
              <a:rPr sz="1160">
                <a:solidFill>
                  <a:srgbClr val="DCDCAA"/>
                </a:solidFill>
                <a:latin typeface="Consolas"/>
              </a:rPr>
              <a:t>expect</a:t>
            </a:r>
            <a:r>
              <a:rPr sz="1160">
                <a:solidFill>
                  <a:srgbClr val="D4D4D4"/>
                </a:solidFill>
                <a:latin typeface="Consolas"/>
              </a:rPr>
              <a:t>(page).</a:t>
            </a:r>
            <a:r>
              <a:rPr sz="1160">
                <a:solidFill>
                  <a:srgbClr val="DCDCAA"/>
                </a:solidFill>
                <a:latin typeface="Consolas"/>
              </a:rPr>
              <a:t>to_have_url</a:t>
            </a:r>
            <a:r>
              <a:rPr sz="1160">
                <a:solidFill>
                  <a:srgbClr val="D4D4D4"/>
                </a:solidFill>
                <a:latin typeface="Consolas"/>
              </a:rPr>
              <a:t>(</a:t>
            </a:r>
            <a:r>
              <a:rPr sz="1160">
                <a:solidFill>
                  <a:srgbClr val="CE9178"/>
                </a:solidFill>
                <a:latin typeface="Consolas"/>
              </a:rPr>
              <a:t>"**/inventory.html"</a:t>
            </a:r>
            <a:r>
              <a:rPr sz="116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MODULE 7 · RUNNING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Page Object Model —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Separate locators and actions from test logic. The Repository pattern, applied to UI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MODULE 7 · RUNNING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28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45720" cy="1234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1892808"/>
            <a:ext cx="4581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185416"/>
            <a:ext cx="4581144" cy="786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AI generates long procedural scripts with locators inlined everywhere. Change one label in the UI, and you're editing the same locator in 50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40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3383280"/>
            <a:ext cx="45720" cy="1234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3447288"/>
            <a:ext cx="45811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The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739896"/>
            <a:ext cx="458114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475569"/>
                </a:solidFill>
                <a:latin typeface="Segoe UI"/>
              </a:rPr>
              <a:t>Wrap each page (LoginPage, CartPage) in a class. Locators live in __init__. Tests call methods — never touch locators directly.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46320"/>
            <a:ext cx="5074920" cy="9601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4846320"/>
            <a:ext cx="459943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D97706"/>
                </a:solidFill>
                <a:latin typeface="Segoe UI"/>
              </a:rPr>
              <a:t>◆  .NET ANALOGY  </a:t>
            </a:r>
            <a:r>
              <a:rPr sz="1060" b="0" i="0">
                <a:solidFill>
                  <a:srgbClr val="B45309"/>
                </a:solidFill>
                <a:latin typeface="Segoe UI"/>
              </a:rPr>
              <a:t>Pages = Repositories. Tests = Controllers. You wouldn't inline SQL in a controller — don't inline locators in a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59" y="1737360"/>
            <a:ext cx="5836615" cy="4370832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0" y="1856232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76772" y="1856232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18503" y="1856232"/>
            <a:ext cx="77724" cy="777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1810512"/>
            <a:ext cx="501365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80">
                <a:solidFill>
                  <a:srgbClr val="14B8A6"/>
                </a:solidFill>
                <a:latin typeface="Segoe UI"/>
              </a:rPr>
              <a:t>pages/login_page.py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093976"/>
            <a:ext cx="5470855" cy="3922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569CD6"/>
                </a:solidFill>
                <a:latin typeface="Consolas"/>
              </a:rPr>
              <a:t>class</a:t>
            </a:r>
            <a:r>
              <a:rPr sz="1180">
                <a:solidFill>
                  <a:srgbClr val="D4D4D4"/>
                </a:solidFill>
                <a:latin typeface="Consolas"/>
              </a:rPr>
              <a:t> LoginPage: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</a:t>
            </a:r>
            <a:r>
              <a:rPr sz="1180">
                <a:solidFill>
                  <a:srgbClr val="569CD6"/>
                </a:solidFill>
                <a:latin typeface="Consolas"/>
              </a:rPr>
              <a:t>def</a:t>
            </a:r>
            <a:r>
              <a:rPr sz="1180">
                <a:solidFill>
                  <a:srgbClr val="D4D4D4"/>
                </a:solidFill>
                <a:latin typeface="Consolas"/>
              </a:rPr>
              <a:t> </a:t>
            </a:r>
            <a:r>
              <a:rPr sz="1180">
                <a:solidFill>
                  <a:srgbClr val="DCDCAA"/>
                </a:solidFill>
                <a:latin typeface="Consolas"/>
              </a:rPr>
              <a:t>__init__</a:t>
            </a:r>
            <a:r>
              <a:rPr sz="1180">
                <a:solidFill>
                  <a:srgbClr val="D4D4D4"/>
                </a:solidFill>
                <a:latin typeface="Consolas"/>
              </a:rPr>
              <a:t>(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, page):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.page = page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.username = page.</a:t>
            </a:r>
            <a:r>
              <a:rPr sz="1180">
                <a:solidFill>
                  <a:srgbClr val="DCDCAA"/>
                </a:solidFill>
                <a:latin typeface="Consolas"/>
              </a:rPr>
              <a:t>get_by_label</a:t>
            </a:r>
            <a:r>
              <a:rPr sz="118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80">
                <a:solidFill>
                  <a:srgbClr val="CE9178"/>
                </a:solidFill>
                <a:latin typeface="Consolas"/>
              </a:rPr>
              <a:t>"Username"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.password = page.</a:t>
            </a:r>
            <a:r>
              <a:rPr sz="1180">
                <a:solidFill>
                  <a:srgbClr val="DCDCAA"/>
                </a:solidFill>
                <a:latin typeface="Consolas"/>
              </a:rPr>
              <a:t>get_by_label</a:t>
            </a:r>
            <a:r>
              <a:rPr sz="118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80">
                <a:solidFill>
                  <a:srgbClr val="CE9178"/>
                </a:solidFill>
                <a:latin typeface="Consolas"/>
              </a:rPr>
              <a:t>"Password"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.login_btn = page.</a:t>
            </a:r>
            <a:r>
              <a:rPr sz="1180">
                <a:solidFill>
                  <a:srgbClr val="DCDCAA"/>
                </a:solidFill>
                <a:latin typeface="Consolas"/>
              </a:rPr>
              <a:t>get_by_role</a:t>
            </a:r>
            <a:r>
              <a:rPr sz="118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80">
                <a:solidFill>
                  <a:srgbClr val="CE9178"/>
                </a:solidFill>
                <a:latin typeface="Consolas"/>
              </a:rPr>
              <a:t>"button"</a:t>
            </a:r>
            <a:r>
              <a:rPr sz="1180">
                <a:solidFill>
                  <a:srgbClr val="D4D4D4"/>
                </a:solidFill>
                <a:latin typeface="Consolas"/>
              </a:rPr>
              <a:t>, name=</a:t>
            </a:r>
            <a:r>
              <a:rPr sz="1180">
                <a:solidFill>
                  <a:srgbClr val="CE9178"/>
                </a:solidFill>
                <a:latin typeface="Consolas"/>
              </a:rPr>
              <a:t>"Login"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</a:t>
            </a:r>
            <a:r>
              <a:rPr sz="1180">
                <a:solidFill>
                  <a:srgbClr val="569CD6"/>
                </a:solidFill>
                <a:latin typeface="Consolas"/>
              </a:rPr>
              <a:t>def</a:t>
            </a:r>
            <a:r>
              <a:rPr sz="1180">
                <a:solidFill>
                  <a:srgbClr val="D4D4D4"/>
                </a:solidFill>
                <a:latin typeface="Consolas"/>
              </a:rPr>
              <a:t> </a:t>
            </a:r>
            <a:r>
              <a:rPr sz="1180">
                <a:solidFill>
                  <a:srgbClr val="DCDCAA"/>
                </a:solidFill>
                <a:latin typeface="Consolas"/>
              </a:rPr>
              <a:t>login</a:t>
            </a:r>
            <a:r>
              <a:rPr sz="1180">
                <a:solidFill>
                  <a:srgbClr val="D4D4D4"/>
                </a:solidFill>
                <a:latin typeface="Consolas"/>
              </a:rPr>
              <a:t>(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, user, pwd):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.username.</a:t>
            </a:r>
            <a:r>
              <a:rPr sz="1180">
                <a:solidFill>
                  <a:srgbClr val="DCDCAA"/>
                </a:solidFill>
                <a:latin typeface="Consolas"/>
              </a:rPr>
              <a:t>fill</a:t>
            </a:r>
            <a:r>
              <a:rPr sz="1180">
                <a:solidFill>
                  <a:srgbClr val="D4D4D4"/>
                </a:solidFill>
                <a:latin typeface="Consolas"/>
              </a:rPr>
              <a:t>(user)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.password.</a:t>
            </a:r>
            <a:r>
              <a:rPr sz="1180">
                <a:solidFill>
                  <a:srgbClr val="DCDCAA"/>
                </a:solidFill>
                <a:latin typeface="Consolas"/>
              </a:rPr>
              <a:t>fill</a:t>
            </a:r>
            <a:r>
              <a:rPr sz="1180">
                <a:solidFill>
                  <a:srgbClr val="D4D4D4"/>
                </a:solidFill>
                <a:latin typeface="Consolas"/>
              </a:rPr>
              <a:t>(pwd)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80">
                <a:solidFill>
                  <a:srgbClr val="D4D4D4"/>
                </a:solidFill>
                <a:latin typeface="Consolas"/>
              </a:rPr>
              <a:t>        </a:t>
            </a:r>
            <a:r>
              <a:rPr sz="1180">
                <a:solidFill>
                  <a:srgbClr val="569CD6"/>
                </a:solidFill>
                <a:latin typeface="Consolas"/>
              </a:rPr>
              <a:t>self</a:t>
            </a:r>
            <a:r>
              <a:rPr sz="1180">
                <a:solidFill>
                  <a:srgbClr val="D4D4D4"/>
                </a:solidFill>
                <a:latin typeface="Consolas"/>
              </a:rPr>
              <a:t>.login_btn.</a:t>
            </a:r>
            <a:r>
              <a:rPr sz="1180">
                <a:solidFill>
                  <a:srgbClr val="DCDCAA"/>
                </a:solidFill>
                <a:latin typeface="Consolas"/>
              </a:rPr>
              <a:t>click</a:t>
            </a:r>
            <a:r>
              <a:rPr sz="1180">
                <a:solidFill>
                  <a:srgbClr val="D4D4D4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75488"/>
            <a:ext cx="146304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023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30">
                <a:solidFill>
                  <a:srgbClr val="0D9488"/>
                </a:solidFill>
                <a:latin typeface="Segoe UI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118585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The AI Code Review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Run every AI-generated Playwright test through this before you trust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85855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94A3B8"/>
                </a:solidFill>
                <a:latin typeface="Segoe UI"/>
              </a:rPr>
              <a:t>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4A3B8"/>
                </a:solidFill>
                <a:latin typeface="Segoe UI"/>
              </a:rPr>
              <a:t>29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7512" y="206997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206082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73736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No xpath= or deeply nested CSS selectors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3736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97599" y="206997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7599" y="206082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647" y="173736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No wait_for_timeout() or time.sleep() anywhere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2321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7512" y="315582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14667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2321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Every action ends with an expect() assertion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282321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97599" y="315582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7599" y="314667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647" y="282321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Locators favor get_by_role / get_by_label / get_by_text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0906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67512" y="424167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423252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0906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Test name &amp; assertions clearly state what “success” means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90906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97599" y="424167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7599" y="423252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647" y="390906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Credentials are never hardcoded in the test file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99491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67512" y="532752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" y="531837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99491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The script actually runs via pytest — not just “looks right”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3007" y="4994910"/>
            <a:ext cx="5455767" cy="90296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97599" y="5327523"/>
            <a:ext cx="237744" cy="23774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97599" y="5318379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1647" y="4994910"/>
            <a:ext cx="4742535" cy="9029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F172A"/>
                </a:solidFill>
                <a:latin typeface="Segoe UI"/>
              </a:rPr>
              <a:t>If structure is messy, refactor it — don't delete AI output outright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F1E"/>
            </a:gs>
            <a:gs pos="100000">
              <a:srgbClr val="1E293B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2103120"/>
            <a:ext cx="5486400" cy="5486400"/>
          </a:xfrm>
          <a:prstGeom prst="ellipse">
            <a:avLst/>
          </a:prstGeom>
          <a:solidFill>
            <a:srgbClr val="0D948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4480560"/>
            <a:ext cx="4572000" cy="4572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5029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4297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14B8A6"/>
                </a:solidFill>
                <a:latin typeface="Segoe UI"/>
              </a:rPr>
              <a:t>WORKSHOP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You Are the Engineer. AI Is the Typist.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557930" cy="2295144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375050" cy="411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039112"/>
            <a:ext cx="315559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AI (the Generator)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31720"/>
            <a:ext cx="315559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60">
                <a:solidFill>
                  <a:srgbClr val="F59E0B"/>
                </a:solidFill>
                <a:latin typeface="Segoe UI"/>
              </a:rPr>
              <a:t>THE TYPIST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43200"/>
            <a:ext cx="3155594" cy="2148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F59E0B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Drafts boilerplate in seconds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F59E0B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Knows the Playwright API surface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F59E0B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Gets you 70-80% of the way there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F59E0B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Cannot judge maintainability or your app's quirks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6882" y="1783080"/>
            <a:ext cx="3557930" cy="2295144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08322" y="1874519"/>
            <a:ext cx="3375050" cy="411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8050" y="2039112"/>
            <a:ext cx="315559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050" y="2331720"/>
            <a:ext cx="315559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60">
                <a:solidFill>
                  <a:srgbClr val="14B8A6"/>
                </a:solidFill>
                <a:latin typeface="Segoe UI"/>
              </a:rPr>
              <a:t>THE SUPERVISOR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050" y="2743200"/>
            <a:ext cx="3155594" cy="2148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14B8A6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Replace brittle locators with semantic ones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14B8A6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Replace blind waits with expect()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14B8A6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Decide what merges and what gets rewritten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0844" y="1783080"/>
            <a:ext cx="3557930" cy="2295144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2284" y="1874519"/>
            <a:ext cx="3375050" cy="411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2012" y="2039112"/>
            <a:ext cx="315559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The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2012" y="2331720"/>
            <a:ext cx="315559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60">
                <a:solidFill>
                  <a:srgbClr val="14B8A6"/>
                </a:solidFill>
                <a:latin typeface="Segoe UI"/>
              </a:rPr>
              <a:t>10X THROUGHPUT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2012" y="2743200"/>
            <a:ext cx="3155594" cy="2148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14B8A6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QA drafts tests far faster than writing from scratch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14B8A6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Developers review in minutes, not hours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030" b="1" i="0">
                <a:solidFill>
                  <a:srgbClr val="14B8A6"/>
                </a:solidFill>
                <a:latin typeface="Segoe UI"/>
              </a:rPr>
              <a:t>—  </a:t>
            </a:r>
            <a:r>
              <a:rPr sz="1030" b="0" i="0">
                <a:solidFill>
                  <a:srgbClr val="CBD5E1"/>
                </a:solidFill>
                <a:latin typeface="Segoe UI"/>
              </a:rPr>
              <a:t>Tests stay green through UI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187952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 dirty="0">
                <a:solidFill>
                  <a:srgbClr val="CBD5E1"/>
                </a:solidFill>
                <a:latin typeface="Segoe UI"/>
              </a:rPr>
              <a:t>AI is a fast junior teammate. It still needs a reviewer who understands what “correct” looks like. That's you.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00800"/>
            <a:ext cx="11185855" cy="1097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80" dirty="0">
                <a:solidFill>
                  <a:srgbClr val="14B8A6"/>
                </a:solidFill>
                <a:latin typeface="Segoe UI"/>
              </a:rPr>
              <a:t>QUESTIONS? LET'S DISCUSS.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4739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4748B"/>
                </a:solidFill>
                <a:latin typeface="Segoe UI"/>
              </a:rPr>
              <a:t>30 / 30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D462306-5F94-55CB-5F88-3CC9F56B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921" y="4212934"/>
            <a:ext cx="2031892" cy="205070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CD7C56B-E64F-A006-796A-B94EA8C2C349}"/>
              </a:ext>
            </a:extLst>
          </p:cNvPr>
          <p:cNvSpPr txBox="1"/>
          <p:nvPr/>
        </p:nvSpPr>
        <p:spPr>
          <a:xfrm>
            <a:off x="6385255" y="5093318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50" b="1" spc="80" dirty="0">
                <a:solidFill>
                  <a:srgbClr val="14B8A6"/>
                </a:solidFill>
                <a:latin typeface="Segoe UI"/>
              </a:rPr>
              <a:t>Post Test &amp; </a:t>
            </a:r>
            <a:r>
              <a:rPr lang="en-US" sz="950" b="1" spc="80" dirty="0" err="1">
                <a:solidFill>
                  <a:srgbClr val="14B8A6"/>
                </a:solidFill>
                <a:latin typeface="Segoe UI"/>
              </a:rPr>
              <a:t>Feedbackform</a:t>
            </a:r>
            <a:r>
              <a:rPr lang="en-US" sz="950" b="1" spc="80" dirty="0">
                <a:solidFill>
                  <a:srgbClr val="14B8A6"/>
                </a:solidFill>
                <a:latin typeface="Segoe UI"/>
              </a:rPr>
              <a:t>:</a:t>
            </a:r>
            <a:endParaRPr sz="950" b="1" i="0" spc="80" dirty="0">
              <a:solidFill>
                <a:srgbClr val="14B8A6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4440</Words>
  <Application>Microsoft Office PowerPoint</Application>
  <PresentationFormat>Widescreen</PresentationFormat>
  <Paragraphs>633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Consolas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Marius Hanan</cp:lastModifiedBy>
  <cp:revision>6</cp:revision>
  <dcterms:created xsi:type="dcterms:W3CDTF">2013-01-27T09:14:16Z</dcterms:created>
  <dcterms:modified xsi:type="dcterms:W3CDTF">2026-06-26T05:12:52Z</dcterms:modified>
  <cp:category/>
</cp:coreProperties>
</file>